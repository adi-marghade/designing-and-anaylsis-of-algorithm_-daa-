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43800" y="640080"/>
            <a:ext cx="38862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8120" y="914400"/>
            <a:ext cx="3337560" cy="4892040"/>
          </a:xfrm>
          <a:prstGeom prst="roundRect">
            <a:avLst/>
          </a:prstGeom>
          <a:solidFill>
            <a:srgbClr val="F6FAFB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732520" y="1874519"/>
            <a:ext cx="1463040" cy="365761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058400" y="2240280"/>
            <a:ext cx="137160" cy="1737359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549640" y="3977639"/>
            <a:ext cx="1508760" cy="365761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549640" y="1874519"/>
            <a:ext cx="182880" cy="2468881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1874519"/>
            <a:ext cx="1325880" cy="2103120"/>
          </a:xfrm>
          <a:prstGeom prst="line">
            <a:avLst/>
          </a:prstGeom>
          <a:ln w="17780">
            <a:solidFill>
              <a:srgbClr val="DA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549640" y="2240280"/>
            <a:ext cx="1645920" cy="2103120"/>
          </a:xfrm>
          <a:prstGeom prst="line">
            <a:avLst/>
          </a:prstGeom>
          <a:ln w="17780">
            <a:solidFill>
              <a:srgbClr val="DA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503920" y="1645919"/>
            <a:ext cx="457200" cy="457200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3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0" y="2011680"/>
            <a:ext cx="457200" cy="457200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205740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9829800" y="3749039"/>
            <a:ext cx="457200" cy="457200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37947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4114800"/>
            <a:ext cx="457200" cy="457200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16052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051560"/>
            <a:ext cx="6217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269996"/>
                </a:solidFill>
                <a:latin typeface="Aptos"/>
              </a:rPr>
              <a:t>DESIGN &amp; ANALYSIS OF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691640"/>
            <a:ext cx="640080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400" b="1" i="0">
                <a:solidFill>
                  <a:srgbClr val="182F4B"/>
                </a:solidFill>
                <a:latin typeface="Aptos"/>
              </a:rPr>
              <a:t>Travelling
Salesman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37560"/>
            <a:ext cx="59893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0" i="0">
                <a:solidFill>
                  <a:srgbClr val="5E707E"/>
                </a:solidFill>
                <a:latin typeface="Aptos"/>
              </a:rPr>
              <a:t>Finding the lowest-cost tour that visits every city once and returns to the start.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17720"/>
            <a:ext cx="150876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640580"/>
            <a:ext cx="14538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82F4B"/>
                </a:solidFill>
                <a:latin typeface="Aptos"/>
              </a:rPr>
              <a:t>GRAPH THEORY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4617720"/>
            <a:ext cx="19202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1" y="4640580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670A6"/>
                </a:solidFill>
                <a:latin typeface="Aptos"/>
              </a:rPr>
              <a:t>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6217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A visual, student-friendly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144768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 i="0">
                <a:solidFill>
                  <a:srgbClr val="269996"/>
                </a:solidFill>
                <a:latin typeface="Aptos"/>
              </a:rPr>
              <a:t>TSP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01 · 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What is the Travelling Salesman Problem?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064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100" b="1" i="0">
                <a:solidFill>
                  <a:srgbClr val="182F4B"/>
                </a:solidFill>
                <a:latin typeface="Aptos"/>
              </a:rPr>
              <a:t>The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571500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0" i="0">
                <a:solidFill>
                  <a:srgbClr val="233442"/>
                </a:solidFill>
                <a:latin typeface="Aptos"/>
              </a:rPr>
              <a:t>Visit every city exactly once, then return to the starting city, while minimizing the total travel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715000" cy="1097280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03320"/>
            <a:ext cx="5303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 i="0">
                <a:solidFill>
                  <a:srgbClr val="269996"/>
                </a:solidFill>
                <a:latin typeface="Aptos"/>
              </a:rPr>
              <a:t>Minimize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05072"/>
            <a:ext cx="5212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82F4B"/>
                </a:solidFill>
                <a:latin typeface="Aptos"/>
              </a:rPr>
              <a:t>Total tour cost = sum of edge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5760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 i="0">
                <a:solidFill>
                  <a:srgbClr val="5E707E"/>
                </a:solidFill>
                <a:latin typeface="Aptos"/>
              </a:rPr>
              <a:t>Example: a courier must deliver to 4 addresses and return to the depot.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4160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3566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82F4B"/>
                </a:solidFill>
                <a:latin typeface="Aptos"/>
              </a:rPr>
              <a:t>Think of it like…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138160" y="2606040"/>
            <a:ext cx="1691640" cy="137160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29800" y="2606040"/>
            <a:ext cx="594360" cy="1463040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412480" y="4069080"/>
            <a:ext cx="2011680" cy="411480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138160" y="2743200"/>
            <a:ext cx="274320" cy="1737360"/>
          </a:xfrm>
          <a:prstGeom prst="line">
            <a:avLst/>
          </a:prstGeom>
          <a:ln w="381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72984" y="2478024"/>
            <a:ext cx="530352" cy="530352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4" y="2523744"/>
            <a:ext cx="530352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Depot</a:t>
            </a:r>
          </a:p>
        </p:txBody>
      </p:sp>
      <p:sp>
        <p:nvSpPr>
          <p:cNvPr id="21" name="Oval 20"/>
          <p:cNvSpPr/>
          <p:nvPr/>
        </p:nvSpPr>
        <p:spPr>
          <a:xfrm>
            <a:off x="9564624" y="2340864"/>
            <a:ext cx="530352" cy="530352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4624" y="2386584"/>
            <a:ext cx="530352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10158984" y="3803904"/>
            <a:ext cx="530352" cy="530352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58984" y="3849624"/>
            <a:ext cx="530352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8147304" y="4215384"/>
            <a:ext cx="530352" cy="530352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4261104"/>
            <a:ext cx="530352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074920"/>
            <a:ext cx="3429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 i="0">
                <a:solidFill>
                  <a:srgbClr val="5E707E"/>
                </a:solidFill>
                <a:latin typeface="Aptos"/>
              </a:rPr>
              <a:t>One complete loop — no city skipped or repeated.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02 · GRAPH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Representing TSP as a weighted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537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920240" y="2331720"/>
            <a:ext cx="3246120" cy="91440"/>
          </a:xfrm>
          <a:prstGeom prst="line">
            <a:avLst/>
          </a:prstGeom>
          <a:ln w="3556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23844" y="2039111"/>
            <a:ext cx="4389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2132" y="2052827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2F4B"/>
                </a:solidFill>
                <a:latin typeface="Aptos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66360" y="2331720"/>
            <a:ext cx="411480" cy="2240280"/>
          </a:xfrm>
          <a:prstGeom prst="line">
            <a:avLst/>
          </a:prstGeom>
          <a:ln w="3556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1244" y="3314700"/>
            <a:ext cx="4389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9532" y="3328415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2F4B"/>
                </a:solidFill>
                <a:latin typeface="Aptos"/>
              </a:rPr>
              <a:t>25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48840" y="4572000"/>
            <a:ext cx="3429000" cy="137160"/>
          </a:xfrm>
          <a:prstGeom prst="line">
            <a:avLst/>
          </a:prstGeom>
          <a:ln w="3556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43883" y="4704588"/>
            <a:ext cx="4389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2172" y="471830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2F4B"/>
                </a:solidFill>
                <a:latin typeface="Aptos"/>
              </a:rPr>
              <a:t>30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920240" y="2423160"/>
            <a:ext cx="228600" cy="2286000"/>
          </a:xfrm>
          <a:prstGeom prst="line">
            <a:avLst/>
          </a:prstGeom>
          <a:ln w="3556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586484" y="3429000"/>
            <a:ext cx="4389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4772" y="3442716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2F4B"/>
                </a:solidFill>
                <a:latin typeface="Aptos"/>
              </a:rPr>
              <a:t>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20240" y="2423160"/>
            <a:ext cx="3657600" cy="2148840"/>
          </a:xfrm>
          <a:prstGeom prst="line">
            <a:avLst/>
          </a:prstGeom>
          <a:ln w="19050">
            <a:solidFill>
              <a:srgbClr val="DA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58183" y="3314700"/>
            <a:ext cx="4389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3328416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2F4B"/>
                </a:solidFill>
                <a:latin typeface="Aptos"/>
              </a:rPr>
              <a:t>15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148840" y="2331720"/>
            <a:ext cx="3017520" cy="2377440"/>
          </a:xfrm>
          <a:prstGeom prst="line">
            <a:avLst/>
          </a:prstGeom>
          <a:ln w="19050">
            <a:solidFill>
              <a:srgbClr val="DA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55263" y="3429000"/>
            <a:ext cx="4389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1" y="3442715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2F4B"/>
                </a:solidFill>
                <a:latin typeface="Aptos"/>
              </a:rPr>
              <a:t>25</a:t>
            </a:r>
          </a:p>
        </p:txBody>
      </p:sp>
      <p:sp>
        <p:nvSpPr>
          <p:cNvPr id="25" name="Oval 24"/>
          <p:cNvSpPr/>
          <p:nvPr/>
        </p:nvSpPr>
        <p:spPr>
          <a:xfrm>
            <a:off x="1682496" y="2185415"/>
            <a:ext cx="475488" cy="475488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82496" y="2231135"/>
            <a:ext cx="475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4928616" y="2093976"/>
            <a:ext cx="475488" cy="475488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8616" y="2139696"/>
            <a:ext cx="475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5340096" y="4334256"/>
            <a:ext cx="475488" cy="475488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0096" y="4379976"/>
            <a:ext cx="475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1911095" y="4471416"/>
            <a:ext cx="475488" cy="475488"/>
          </a:xfrm>
          <a:prstGeom prst="ellipse">
            <a:avLst/>
          </a:prstGeom>
          <a:solidFill>
            <a:srgbClr val="3670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11095" y="4517136"/>
            <a:ext cx="475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1508760"/>
            <a:ext cx="3977639" cy="4526280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1783080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 i="0">
                <a:solidFill>
                  <a:srgbClr val="182F4B"/>
                </a:solidFill>
                <a:latin typeface="Aptos"/>
              </a:rPr>
              <a:t>Graph vocabulary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331720"/>
            <a:ext cx="3337560" cy="237744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Vertex (node) = a city</a:t>
            </a:r>
          </a:p>
          <a:p>
            <a:pPr>
              <a:spcAft>
                <a:spcPts val="12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Edge = a direct connection</a:t>
            </a:r>
          </a:p>
          <a:p>
            <a:pPr>
              <a:spcAft>
                <a:spcPts val="12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Weight = distance, time, or cost</a:t>
            </a:r>
          </a:p>
          <a:p>
            <a:pPr>
              <a:spcAft>
                <a:spcPts val="12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Tour = a cycle through all cities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892040"/>
            <a:ext cx="32918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269996"/>
                </a:solidFill>
                <a:latin typeface="Aptos"/>
              </a:rPr>
              <a:t>A valid tour visits each vertex once and returns to its 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03 · WORKING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A 4-city example: compare the tours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 i="0">
                <a:solidFill>
                  <a:srgbClr val="5E707E"/>
                </a:solidFill>
                <a:latin typeface="Aptos"/>
              </a:rPr>
              <a:t>Distances are illustrative units. Because this graph is symmetric, reversing a tour has the same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108960" cy="585216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30552"/>
            <a:ext cx="29626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2057400"/>
            <a:ext cx="4114800" cy="585216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6784" y="2130552"/>
            <a:ext cx="3968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Calculation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2057400"/>
            <a:ext cx="1280160" cy="585216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2130552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79192"/>
            <a:ext cx="31089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52344"/>
            <a:ext cx="29626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33442"/>
                </a:solidFill>
                <a:latin typeface="Aptos"/>
              </a:rPr>
              <a:t>A → B → C → D →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2679192"/>
            <a:ext cx="411480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2752344"/>
            <a:ext cx="3968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33442"/>
                </a:solidFill>
                <a:latin typeface="Aptos"/>
              </a:rPr>
              <a:t>10 + 25 + 30 + 20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679192"/>
            <a:ext cx="1280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2752344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33442"/>
                </a:solidFill>
                <a:latin typeface="Aptos"/>
              </a:rPr>
              <a:t>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00984"/>
            <a:ext cx="3108960" cy="58521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26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374136"/>
            <a:ext cx="29626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33442"/>
                </a:solidFill>
                <a:latin typeface="Aptos"/>
              </a:rPr>
              <a:t>A → B → D → C →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3300984"/>
            <a:ext cx="4114800" cy="58521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26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6784" y="3374136"/>
            <a:ext cx="3968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33442"/>
                </a:solidFill>
                <a:latin typeface="Aptos"/>
              </a:rPr>
              <a:t>10 + 25 + 30 + 15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3300984"/>
            <a:ext cx="1280160" cy="58521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26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3374136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9996"/>
                </a:solidFill>
                <a:latin typeface="Aptos"/>
              </a:rPr>
              <a:t>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22776"/>
            <a:ext cx="31089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995928"/>
            <a:ext cx="29626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33442"/>
                </a:solidFill>
                <a:latin typeface="Aptos"/>
              </a:rPr>
              <a:t>A → C → B → D →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922776"/>
            <a:ext cx="411480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6784" y="3995928"/>
            <a:ext cx="3968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33442"/>
                </a:solidFill>
                <a:latin typeface="Aptos"/>
              </a:rPr>
              <a:t>15 + 25 + 25 + 20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922776"/>
            <a:ext cx="1280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3995928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33442"/>
                </a:solidFill>
                <a:latin typeface="Aptos"/>
              </a:rPr>
              <a:t>85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2057400"/>
            <a:ext cx="2148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2331720"/>
            <a:ext cx="1691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 i="0">
                <a:solidFill>
                  <a:srgbClr val="5E707E"/>
                </a:solidFill>
                <a:latin typeface="Aptos"/>
              </a:rPr>
              <a:t>Best tour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834640"/>
            <a:ext cx="17830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 i="0">
                <a:solidFill>
                  <a:srgbClr val="269996"/>
                </a:solidFill>
                <a:latin typeface="Aptos"/>
              </a:rPr>
              <a:t>80 units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520440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182F4B"/>
                </a:solidFill>
                <a:latin typeface="Aptos"/>
              </a:rPr>
              <a:t>A → B → D → C → 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983480"/>
            <a:ext cx="10698480" cy="777240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193792"/>
            <a:ext cx="10195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 i="0">
                <a:solidFill>
                  <a:srgbClr val="182F4B"/>
                </a:solidFill>
                <a:latin typeface="Aptos"/>
              </a:rPr>
              <a:t>Key lesson: a route that looks shorter is not enough — add every edge weight to compare total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04 · PROBLEM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Three common types of TSP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375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65960"/>
            <a:ext cx="566928" cy="566928"/>
          </a:xfrm>
          <a:prstGeom prst="ellipse">
            <a:avLst/>
          </a:prstGeom>
          <a:solidFill>
            <a:srgbClr val="36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7568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43200"/>
            <a:ext cx="2788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82F4B"/>
                </a:solidFill>
                <a:latin typeface="Aptos"/>
              </a:rPr>
              <a:t>SYMMETRIC TSP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01568"/>
            <a:ext cx="27889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 i="0">
                <a:solidFill>
                  <a:srgbClr val="233442"/>
                </a:solidFill>
                <a:latin typeface="Aptos"/>
              </a:rPr>
              <a:t>Distance A → B equals B → 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4343400"/>
            <a:ext cx="502920" cy="36576"/>
          </a:xfrm>
          <a:prstGeom prst="rect">
            <a:avLst/>
          </a:prstGeom>
          <a:solidFill>
            <a:srgbClr val="36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572000"/>
            <a:ext cx="27889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Example: road distance between two cities, when direction does not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691640"/>
            <a:ext cx="33375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965960"/>
            <a:ext cx="566928" cy="566928"/>
          </a:xfrm>
          <a:prstGeom prst="ellipse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07568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743200"/>
            <a:ext cx="2788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82F4B"/>
                </a:solidFill>
                <a:latin typeface="Aptos"/>
              </a:rPr>
              <a:t>ASYMMETRIC TSP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01568"/>
            <a:ext cx="27889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 i="0">
                <a:solidFill>
                  <a:srgbClr val="233442"/>
                </a:solidFill>
                <a:latin typeface="Aptos"/>
              </a:rPr>
              <a:t>Cost A → B may differ from B → 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4343400"/>
            <a:ext cx="502920" cy="36576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4572000"/>
            <a:ext cx="27889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Example: one-way streets, different flight fares, or direction-dependent travel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91640"/>
            <a:ext cx="33375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74152" y="1965960"/>
            <a:ext cx="566928" cy="566928"/>
          </a:xfrm>
          <a:prstGeom prst="ellipse">
            <a:avLst/>
          </a:prstGeom>
          <a:solidFill>
            <a:srgbClr val="E8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207568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2743200"/>
            <a:ext cx="2788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82F4B"/>
                </a:solidFill>
                <a:latin typeface="Aptos"/>
              </a:rPr>
              <a:t>METRIC TSP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3401568"/>
            <a:ext cx="27889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 i="0">
                <a:solidFill>
                  <a:srgbClr val="233442"/>
                </a:solidFill>
                <a:latin typeface="Aptos"/>
              </a:rPr>
              <a:t>Distances obey triangle inequality: d(A,C) ≤ d(A,B)+d(B,C).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4343400"/>
            <a:ext cx="502920" cy="36576"/>
          </a:xfrm>
          <a:prstGeom prst="rect">
            <a:avLst/>
          </a:prstGeom>
          <a:solidFill>
            <a:srgbClr val="E8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4572000"/>
            <a:ext cx="27889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Example: straight-line distance or shortest-path distances in a road network.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53328"/>
            <a:ext cx="10607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 i="1">
                <a:solidFill>
                  <a:srgbClr val="5E707E"/>
                </a:solidFill>
                <a:latin typeface="Aptos"/>
              </a:rPr>
              <a:t>Metric TSP is a special case defined by a distance property; it may be symmetric, but symmetry alone does not make a TSP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05 · SOLUTION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Algorithms: exact answers vs. fast approximations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828800" cy="566928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18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01368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3472" y="1691640"/>
            <a:ext cx="2743200" cy="566928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18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80136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Core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9824" y="1691640"/>
            <a:ext cx="2971800" cy="566928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18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801368"/>
            <a:ext cx="2862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Typical time complexity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94776" y="1691640"/>
            <a:ext cx="2743200" cy="566928"/>
          </a:xfrm>
          <a:prstGeom prst="roundRect">
            <a:avLst/>
          </a:prstGeom>
          <a:solidFill>
            <a:srgbClr val="182F4B"/>
          </a:solidFill>
          <a:ln w="12700">
            <a:solidFill>
              <a:srgbClr val="18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80136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Guarantee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68296"/>
            <a:ext cx="18288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41448"/>
            <a:ext cx="1682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69996"/>
                </a:solidFill>
                <a:latin typeface="Aptos"/>
              </a:rPr>
              <a:t>Brute 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3472" y="2368296"/>
            <a:ext cx="27432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441448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Try every possible tour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9824" y="2368296"/>
            <a:ext cx="29718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2976" y="2441448"/>
            <a:ext cx="2825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O(n!) tours (fixed start)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94776" y="2368296"/>
            <a:ext cx="27432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2441448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Exact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72968"/>
            <a:ext cx="1828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246120"/>
            <a:ext cx="1682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69996"/>
                </a:solidFill>
                <a:latin typeface="Aptos"/>
              </a:rPr>
              <a:t>Held–Karp DP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33472" y="3172968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3246120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Reuse solved subsets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3172968"/>
            <a:ext cx="2971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3246120"/>
            <a:ext cx="2825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O(n² · 2ⁿ) time; O(n · 2ⁿ) space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94776" y="3172968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246120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Exact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77639"/>
            <a:ext cx="18288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050791"/>
            <a:ext cx="1682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69996"/>
                </a:solidFill>
                <a:latin typeface="Aptos"/>
              </a:rPr>
              <a:t>Branch &amp; Bound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33472" y="3977639"/>
            <a:ext cx="27432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4050791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Prune partial tours that cannot win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9824" y="3977639"/>
            <a:ext cx="29718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2976" y="4050791"/>
            <a:ext cx="2825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Worst case O(n!)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94776" y="3977639"/>
            <a:ext cx="2743200" cy="713232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4050791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Exact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82312"/>
            <a:ext cx="1828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4855464"/>
            <a:ext cx="1682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69996"/>
                </a:solidFill>
                <a:latin typeface="Aptos"/>
              </a:rPr>
              <a:t>Approximation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33472" y="4782312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4855464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Use structure to find a near-best tour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9824" y="4782312"/>
            <a:ext cx="2971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2976" y="4855464"/>
            <a:ext cx="28254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Often polynomial; varies by method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94776" y="4782312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4855464"/>
            <a:ext cx="259689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233442"/>
                </a:solidFill>
                <a:latin typeface="Aptos"/>
              </a:rPr>
              <a:t>Bounded guarantee for supported variants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715000"/>
            <a:ext cx="10607040" cy="502920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815584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182F4B"/>
                </a:solidFill>
                <a:latin typeface="Aptos"/>
              </a:rPr>
              <a:t>Important: classic metric TSP has a 1.5-approximation; general TSP has no constant-factor guarantee unless P = NP.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06 · REUSE SUBPROBLEMS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Dynamic programming: Held–Karp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154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 i="0">
                <a:solidFill>
                  <a:srgbClr val="182F4B"/>
                </a:solidFill>
                <a:latin typeface="Aptos"/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06324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 i="0">
                <a:solidFill>
                  <a:srgbClr val="233442"/>
                </a:solidFill>
                <a:latin typeface="Aptos"/>
              </a:rPr>
              <a:t>DP[S, j] = minimum cost to start at A, visit every city in set S, and finish at city j.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03320"/>
            <a:ext cx="3063240" cy="841248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77056"/>
            <a:ext cx="269748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 i="0">
                <a:solidFill>
                  <a:srgbClr val="269996"/>
                </a:solidFill>
                <a:latin typeface="Aptos"/>
              </a:rPr>
              <a:t>DP[S, j] = minᵢ DP[S − {j}, i] + d(i,j)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92040"/>
            <a:ext cx="30175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S is a subset of cities; j is the last city visited.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54480"/>
            <a:ext cx="6720840" cy="4526280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6080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 i="0">
                <a:solidFill>
                  <a:srgbClr val="182F4B"/>
                </a:solidFill>
                <a:latin typeface="Aptos"/>
              </a:rPr>
              <a:t>How the computation builds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60604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2715768"/>
            <a:ext cx="1252728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269996"/>
                </a:solidFill>
                <a:latin typeface="Aptos"/>
              </a:rPr>
              <a:t>1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017520"/>
            <a:ext cx="1252728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 i="0">
                <a:solidFill>
                  <a:srgbClr val="5E707E"/>
                </a:solidFill>
                <a:latin typeface="Aptos"/>
              </a:rPr>
              <a:t>Base 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606040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296" y="2715768"/>
            <a:ext cx="1435607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269996"/>
                </a:solidFill>
                <a:latin typeface="Aptos"/>
              </a:rPr>
              <a:t>2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3017520"/>
            <a:ext cx="1435607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 i="0">
                <a:solidFill>
                  <a:srgbClr val="5E707E"/>
                </a:solidFill>
                <a:latin typeface="Aptos"/>
              </a:rPr>
              <a:t>Extend paths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606040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2715768"/>
            <a:ext cx="1435607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269996"/>
                </a:solidFill>
                <a:latin typeface="Aptos"/>
              </a:rPr>
              <a:t>Larger 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017520"/>
            <a:ext cx="1435607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 i="0">
                <a:solidFill>
                  <a:srgbClr val="5E707E"/>
                </a:solidFill>
                <a:latin typeface="Aptos"/>
              </a:rPr>
              <a:t>Reuse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9880" y="2606040"/>
            <a:ext cx="685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06455" y="2715768"/>
            <a:ext cx="612648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269996"/>
                </a:solidFill>
                <a:latin typeface="Aptos"/>
              </a:rPr>
              <a:t>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92240" y="2980944"/>
            <a:ext cx="365760" cy="0"/>
          </a:xfrm>
          <a:prstGeom prst="line">
            <a:avLst/>
          </a:prstGeom>
          <a:ln w="254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12480" y="2980944"/>
            <a:ext cx="365760" cy="0"/>
          </a:xfrm>
          <a:prstGeom prst="line">
            <a:avLst/>
          </a:prstGeom>
          <a:ln w="254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32720" y="2980944"/>
            <a:ext cx="91440" cy="0"/>
          </a:xfrm>
          <a:prstGeom prst="line">
            <a:avLst/>
          </a:prstGeom>
          <a:ln w="2540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212080" y="3977639"/>
            <a:ext cx="5669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4187952"/>
            <a:ext cx="52120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 i="0">
                <a:solidFill>
                  <a:srgbClr val="182F4B"/>
                </a:solidFill>
                <a:latin typeface="Aptos"/>
              </a:rPr>
              <a:t>Finally: add the cost to return to A, then choose the cheapest ending city.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349240"/>
            <a:ext cx="5852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 i="0">
                <a:solidFill>
                  <a:srgbClr val="269996"/>
                </a:solidFill>
                <a:latin typeface="Aptos"/>
              </a:rPr>
              <a:t>Time: O(n² · 2ⁿ)     |     Space: O(n · 2ⁿ)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07 · 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Where is TSP useful?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1660"/>
            <a:ext cx="4480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99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82F4B"/>
                </a:solidFill>
                <a:latin typeface="Aptos"/>
              </a:rPr>
              <a:t>Delivery &amp; logistics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834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5E707E"/>
                </a:solidFill>
                <a:latin typeface="Aptos"/>
              </a:rPr>
              <a:t>Order stops to reduce total driving distance.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4592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50292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851660"/>
            <a:ext cx="4480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99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40280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82F4B"/>
                </a:solidFill>
                <a:latin typeface="Aptos"/>
              </a:rPr>
              <a:t>Vehicle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06040"/>
            <a:ext cx="2834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5E707E"/>
                </a:solidFill>
                <a:latin typeface="Aptos"/>
              </a:rPr>
              <a:t>Plan routes for fleets; real systems add capacity and time windows.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19" y="1828800"/>
            <a:ext cx="50292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1" y="1851660"/>
            <a:ext cx="4480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999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240280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82F4B"/>
                </a:solidFill>
                <a:latin typeface="Aptos"/>
              </a:rP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606040"/>
            <a:ext cx="2834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5E707E"/>
                </a:solidFill>
                <a:latin typeface="Aptos"/>
              </a:rPr>
              <a:t>Choose efficient tool or machine movement sequences.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840480"/>
            <a:ext cx="50292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863340"/>
            <a:ext cx="4480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999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82F4B"/>
                </a:solidFill>
                <a:latin typeface="Aptos"/>
              </a:rPr>
              <a:t>Circuit-board drilling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2834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5E707E"/>
                </a:solidFill>
                <a:latin typeface="Aptos"/>
              </a:rPr>
              <a:t>Minimize movement between drilling locations on a board.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65760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9160" y="3840480"/>
            <a:ext cx="50292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863340"/>
            <a:ext cx="4480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9996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251960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82F4B"/>
                </a:solidFill>
                <a:latin typeface="Aptos"/>
              </a:rPr>
              <a:t>Robotics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617720"/>
            <a:ext cx="2834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5E707E"/>
                </a:solidFill>
                <a:latin typeface="Aptos"/>
              </a:rPr>
              <a:t>Plan a sequence of inspection or pick-up points.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65760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03919" y="3840480"/>
            <a:ext cx="502920" cy="310896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1" y="3863340"/>
            <a:ext cx="4480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9996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251960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82F4B"/>
                </a:solidFill>
                <a:latin typeface="Aptos"/>
              </a:rPr>
              <a:t>Route planning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617720"/>
            <a:ext cx="2834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5E707E"/>
                </a:solidFill>
                <a:latin typeface="Aptos"/>
              </a:rPr>
              <a:t>Build a low-cost tour through multiple destinations.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69996"/>
                </a:solidFill>
                <a:latin typeface="Aptos"/>
              </a:rPr>
              <a:t>Real systems often use TSP as a building block inside larger scheduling and routing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08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Advantages: why optimize the tour?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572000" cy="4389120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3931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 i="0">
                <a:solidFill>
                  <a:srgbClr val="182F4B"/>
                </a:solidFill>
                <a:latin typeface="Aptos"/>
              </a:rPr>
              <a:t>Same stops, different cost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7320" y="2560320"/>
            <a:ext cx="1051560" cy="228600"/>
          </a:xfrm>
          <a:prstGeom prst="line">
            <a:avLst/>
          </a:prstGeom>
          <a:ln w="31750">
            <a:solidFill>
              <a:srgbClr val="E88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2560320"/>
            <a:ext cx="1417320" cy="320040"/>
          </a:xfrm>
          <a:prstGeom prst="line">
            <a:avLst/>
          </a:prstGeom>
          <a:ln w="31750">
            <a:solidFill>
              <a:srgbClr val="E88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46120" y="2880360"/>
            <a:ext cx="640080" cy="566927"/>
          </a:xfrm>
          <a:prstGeom prst="line">
            <a:avLst/>
          </a:prstGeom>
          <a:ln w="31750">
            <a:solidFill>
              <a:srgbClr val="E88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417320" y="2788920"/>
            <a:ext cx="1828800" cy="658367"/>
          </a:xfrm>
          <a:prstGeom prst="line">
            <a:avLst/>
          </a:prstGeom>
          <a:ln w="31750">
            <a:solidFill>
              <a:srgbClr val="E88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71016" y="2642615"/>
            <a:ext cx="292608" cy="292608"/>
          </a:xfrm>
          <a:prstGeom prst="ellipse">
            <a:avLst/>
          </a:prstGeom>
          <a:solidFill>
            <a:srgbClr val="E8827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2688335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2322576" y="2414015"/>
            <a:ext cx="292608" cy="292608"/>
          </a:xfrm>
          <a:prstGeom prst="ellipse">
            <a:avLst/>
          </a:prstGeom>
          <a:solidFill>
            <a:srgbClr val="E8827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59735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3739896" y="2734056"/>
            <a:ext cx="292608" cy="292608"/>
          </a:xfrm>
          <a:prstGeom prst="ellipse">
            <a:avLst/>
          </a:prstGeom>
          <a:solidFill>
            <a:srgbClr val="E8827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2779775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099815" y="3300983"/>
            <a:ext cx="292608" cy="292608"/>
          </a:xfrm>
          <a:prstGeom prst="ellipse">
            <a:avLst/>
          </a:prstGeom>
          <a:solidFill>
            <a:srgbClr val="E8827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9815" y="334670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66160"/>
            <a:ext cx="3886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E88270"/>
                </a:solidFill>
                <a:latin typeface="Aptos"/>
              </a:rPr>
              <a:t>Unplanned route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417320" y="4114800"/>
            <a:ext cx="1051560" cy="228600"/>
          </a:xfrm>
          <a:prstGeom prst="line">
            <a:avLst/>
          </a:prstGeom>
          <a:ln w="3175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68880" y="4114800"/>
            <a:ext cx="1417320" cy="320040"/>
          </a:xfrm>
          <a:prstGeom prst="line">
            <a:avLst/>
          </a:prstGeom>
          <a:ln w="3175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46120" y="4434840"/>
            <a:ext cx="640080" cy="566928"/>
          </a:xfrm>
          <a:prstGeom prst="line">
            <a:avLst/>
          </a:prstGeom>
          <a:ln w="3175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417320" y="4343400"/>
            <a:ext cx="1828800" cy="658368"/>
          </a:xfrm>
          <a:prstGeom prst="line">
            <a:avLst/>
          </a:prstGeom>
          <a:ln w="31750">
            <a:solidFill>
              <a:srgbClr val="269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271016" y="4197096"/>
            <a:ext cx="292608" cy="292608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1016" y="424281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2322576" y="3968496"/>
            <a:ext cx="292608" cy="292608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22576" y="4014215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3739896" y="4288536"/>
            <a:ext cx="292608" cy="292608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4334255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3099815" y="4855464"/>
            <a:ext cx="292608" cy="292608"/>
          </a:xfrm>
          <a:prstGeom prst="ellipse">
            <a:avLst/>
          </a:prstGeom>
          <a:solidFill>
            <a:srgbClr val="26999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5" y="4901183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120640"/>
            <a:ext cx="3886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269996"/>
                </a:solidFill>
                <a:latin typeface="Aptos"/>
              </a:rPr>
              <a:t>Optimized route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1645920"/>
            <a:ext cx="5669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057400"/>
            <a:ext cx="4892040" cy="342900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Minimizes total route cost for the chosen model.</a:t>
            </a:r>
          </a:p>
          <a:p>
            <a:pPr>
              <a:spcAft>
                <a:spcPts val="15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Can reduce distance, travel time, fuel, or machine movement.</a:t>
            </a:r>
          </a:p>
          <a:p>
            <a:pPr>
              <a:spcAft>
                <a:spcPts val="15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Uses vehicles, staff, and equipment more efficiently.</a:t>
            </a:r>
          </a:p>
          <a:p>
            <a:pPr>
              <a:spcAft>
                <a:spcPts val="15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Makes planning more systematic and comparable.</a:t>
            </a:r>
          </a:p>
          <a:p>
            <a:pPr>
              <a:spcAft>
                <a:spcPts val="15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Provides a clear benchmark for evaluating route choices.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440680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269996"/>
                </a:solidFill>
                <a:latin typeface="Aptos"/>
              </a:rPr>
              <a:t>Benefits depend on accurate distances and realistic constraints.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09 · WHAT MAKES TSP HARD?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Challenges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114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82F4B"/>
                </a:solidFill>
                <a:latin typeface="Aptos"/>
              </a:rPr>
              <a:t>Search space grows rapidly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4023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 i="0">
                <a:solidFill>
                  <a:srgbClr val="233442"/>
                </a:solidFill>
                <a:latin typeface="Aptos"/>
              </a:rPr>
              <a:t>With a fixed starting city, there are (n − 1)! possible directed tours.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143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5E707E"/>
                </a:solidFill>
                <a:latin typeface="Aptos"/>
              </a:rPr>
              <a:t>5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264408"/>
            <a:ext cx="365760" cy="164592"/>
          </a:xfrm>
          <a:prstGeom prst="round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3236976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182F4B"/>
                </a:solidFill>
                <a:latin typeface="Aptos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85031"/>
            <a:ext cx="1143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5E707E"/>
                </a:solidFill>
                <a:latin typeface="Aptos"/>
              </a:rPr>
              <a:t>8 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703319"/>
            <a:ext cx="640080" cy="164592"/>
          </a:xfrm>
          <a:prstGeom prst="round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3675887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182F4B"/>
                </a:solidFill>
                <a:latin typeface="Aptos"/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23944"/>
            <a:ext cx="1143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5E707E"/>
                </a:solidFill>
                <a:latin typeface="Aptos"/>
              </a:rPr>
              <a:t>10 cities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142231"/>
            <a:ext cx="1417320" cy="164592"/>
          </a:xfrm>
          <a:prstGeom prst="roundRect">
            <a:avLst/>
          </a:prstGeom>
          <a:solidFill>
            <a:srgbClr val="E8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114800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182F4B"/>
                </a:solidFill>
                <a:latin typeface="Aptos"/>
              </a:rPr>
              <a:t>362,880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62856"/>
            <a:ext cx="1143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5E707E"/>
                </a:solidFill>
                <a:latin typeface="Aptos"/>
              </a:rPr>
              <a:t>12 cities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581144"/>
            <a:ext cx="2331720" cy="164592"/>
          </a:xfrm>
          <a:prstGeom prst="roundRect">
            <a:avLst/>
          </a:prstGeom>
          <a:solidFill>
            <a:srgbClr val="E88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455371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182F4B"/>
                </a:solidFill>
                <a:latin typeface="Aptos"/>
              </a:rPr>
              <a:t>39,916,800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1645920"/>
            <a:ext cx="5532120" cy="4389120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4800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82F4B"/>
                </a:solidFill>
                <a:latin typeface="Aptos"/>
              </a:rPr>
              <a:t>Practical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23160"/>
            <a:ext cx="4709160" cy="310896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442"/>
                </a:solidFill>
                <a:latin typeface="Aptos"/>
              </a:defRPr>
            </a:pPr>
            <a:r>
              <a:t>•  Exact algorithms become expensive as city count grows.</a:t>
            </a:r>
          </a:p>
          <a:p>
            <a:pPr>
              <a:spcAft>
                <a:spcPts val="1200"/>
              </a:spcAft>
              <a:defRPr sz="1500">
                <a:solidFill>
                  <a:srgbClr val="233442"/>
                </a:solidFill>
                <a:latin typeface="Aptos"/>
              </a:defRPr>
            </a:pPr>
            <a:r>
              <a:t>•  Large instances may need heuristics or approximations.</a:t>
            </a:r>
          </a:p>
          <a:p>
            <a:pPr>
              <a:spcAft>
                <a:spcPts val="1200"/>
              </a:spcAft>
              <a:defRPr sz="1500">
                <a:solidFill>
                  <a:srgbClr val="233442"/>
                </a:solidFill>
                <a:latin typeface="Aptos"/>
              </a:defRPr>
            </a:pPr>
            <a:r>
              <a:t>•  Traffic, weather, and closures can change travel costs.</a:t>
            </a:r>
          </a:p>
          <a:p>
            <a:pPr>
              <a:spcAft>
                <a:spcPts val="1200"/>
              </a:spcAft>
              <a:defRPr sz="1500">
                <a:solidFill>
                  <a:srgbClr val="233442"/>
                </a:solidFill>
                <a:latin typeface="Aptos"/>
              </a:defRPr>
            </a:pPr>
            <a:r>
              <a:t>•  Real tasks add time windows, vehicle limits, and priorities.</a:t>
            </a:r>
          </a:p>
          <a:p>
            <a:pPr>
              <a:spcAft>
                <a:spcPts val="1200"/>
              </a:spcAft>
              <a:defRPr sz="1500">
                <a:solidFill>
                  <a:srgbClr val="233442"/>
                </a:solidFill>
                <a:latin typeface="Aptos"/>
              </a:defRPr>
            </a:pPr>
            <a:r>
              <a:t>•  A mathematically shortest route may not be the most practical.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486400"/>
            <a:ext cx="4663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269996"/>
                </a:solidFill>
                <a:latin typeface="Aptos"/>
              </a:rPr>
              <a:t>TSP is NP-hard: no known polynomial-time exact algorithm solves every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10 · PRACTICAL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Choosing an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61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901952"/>
            <a:ext cx="1508760" cy="310896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924812"/>
            <a:ext cx="14538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82F4B"/>
                </a:solidFill>
                <a:latin typeface="Aptos"/>
              </a:rPr>
              <a:t>SMALL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01952"/>
            <a:ext cx="30175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3670A6"/>
                </a:solidFill>
                <a:latin typeface="Aptos"/>
              </a:rPr>
              <a:t>Brute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901952"/>
            <a:ext cx="49834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Easy to understand; feasible only for very few cities.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35808"/>
            <a:ext cx="10561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200400"/>
            <a:ext cx="1508760" cy="310896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223260"/>
            <a:ext cx="14538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82F4B"/>
                </a:solidFill>
                <a:latin typeface="Aptos"/>
              </a:rPr>
              <a:t>MODERATE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00400"/>
            <a:ext cx="30175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69996"/>
                </a:solidFill>
                <a:latin typeface="Aptos"/>
              </a:rPr>
              <a:t>Held–Karp / Branch &amp; 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00400"/>
            <a:ext cx="49834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Exact answer, but memory or search can still grow quickly.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34256"/>
            <a:ext cx="10561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498848"/>
            <a:ext cx="1508760" cy="310896"/>
          </a:xfrm>
          <a:prstGeom prst="roundRect">
            <a:avLst/>
          </a:prstGeom>
          <a:solidFill>
            <a:srgbClr val="EBF5F8"/>
          </a:solidFill>
          <a:ln w="12700"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521708"/>
            <a:ext cx="14538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82F4B"/>
                </a:solidFill>
                <a:latin typeface="Aptos"/>
              </a:rPr>
              <a:t>LARGE INSTANCE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498848"/>
            <a:ext cx="30175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E88270"/>
                </a:solidFill>
                <a:latin typeface="Aptos"/>
              </a:rPr>
              <a:t>Approximation / heuristics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498848"/>
            <a:ext cx="49834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E707E"/>
                </a:solidFill>
                <a:latin typeface="Aptos"/>
              </a:rPr>
              <a:t>Usually faster; may trade guaranteed optimality for speed.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15000"/>
            <a:ext cx="10332720" cy="502920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15584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182F4B"/>
                </a:solidFill>
                <a:latin typeface="Aptos"/>
              </a:rPr>
              <a:t>Decision rule: choose based on instance size, time limit, and whether a provably optimal tour is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875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269996"/>
                </a:solidFill>
                <a:latin typeface="Aptos"/>
              </a:rPr>
              <a:t>11 ·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 i="0">
                <a:solidFill>
                  <a:srgbClr val="182F4B"/>
                </a:solidFill>
                <a:latin typeface="Aptos"/>
              </a:rPr>
              <a:t>Conclusion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43000"/>
            <a:ext cx="685800" cy="41148"/>
          </a:xfrm>
          <a:prstGeom prst="rect">
            <a:avLst/>
          </a:prstGeom>
          <a:solidFill>
            <a:srgbClr val="26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 i="0">
                <a:solidFill>
                  <a:srgbClr val="5E707E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4800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 i="0">
                <a:solidFill>
                  <a:srgbClr val="182F4B"/>
                </a:solidFill>
                <a:latin typeface="Aptos"/>
              </a:rPr>
              <a:t>Remember these three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754880" cy="246888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7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TSP asks for the minimum-cost cycle through every city exactly once.</a:t>
            </a:r>
          </a:p>
          <a:p>
            <a:pPr>
              <a:spcAft>
                <a:spcPts val="17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Exact methods guarantee the best tour but can be computationally expensive.</a:t>
            </a:r>
          </a:p>
          <a:p>
            <a:pPr>
              <a:spcAft>
                <a:spcPts val="1700"/>
              </a:spcAft>
              <a:defRPr sz="1600">
                <a:solidFill>
                  <a:srgbClr val="233442"/>
                </a:solidFill>
                <a:latin typeface="Aptos"/>
              </a:defRPr>
            </a:pPr>
            <a:r>
              <a:t>•  Approximation and heuristic methods help with larger practical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074920"/>
            <a:ext cx="4709160" cy="594360"/>
          </a:xfrm>
          <a:prstGeom prst="roundRect">
            <a:avLst/>
          </a:prstGeom>
          <a:solidFill>
            <a:srgbClr val="D5F2EB"/>
          </a:solidFill>
          <a:ln w="12700">
            <a:solidFill>
              <a:srgbClr val="D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230368"/>
            <a:ext cx="4434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 i="0">
                <a:solidFill>
                  <a:srgbClr val="269996"/>
                </a:solidFill>
                <a:latin typeface="Aptos"/>
              </a:rPr>
              <a:t>The best method depends on the problem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4983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81051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82F4B"/>
                </a:solidFill>
                <a:latin typeface="Aptos"/>
              </a:rPr>
              <a:t>References for further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31720"/>
            <a:ext cx="4343400" cy="310896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233442"/>
                </a:solidFill>
                <a:latin typeface="Aptos"/>
              </a:defRPr>
            </a:pPr>
            <a:r>
              <a:t>•  Cormen et al., Introduction to Algorithms, 4th ed. (MIT Press).</a:t>
            </a:r>
          </a:p>
          <a:p>
            <a:pPr>
              <a:spcAft>
                <a:spcPts val="1200"/>
              </a:spcAft>
              <a:defRPr sz="1200">
                <a:solidFill>
                  <a:srgbClr val="233442"/>
                </a:solidFill>
                <a:latin typeface="Aptos"/>
              </a:defRPr>
            </a:pPr>
            <a:r>
              <a:t>•  Karp, R. M. (1972), “Reducibility Among Combinatorial Problems.”</a:t>
            </a:r>
          </a:p>
          <a:p>
            <a:pPr>
              <a:spcAft>
                <a:spcPts val="1200"/>
              </a:spcAft>
              <a:defRPr sz="1200">
                <a:solidFill>
                  <a:srgbClr val="233442"/>
                </a:solidFill>
                <a:latin typeface="Aptos"/>
              </a:defRPr>
            </a:pPr>
            <a:r>
              <a:t>•  Held, M. &amp; Karp, R. M. (1962), “A Dynamic Programming Approach to Sequencing Problems.”</a:t>
            </a:r>
          </a:p>
          <a:p>
            <a:pPr>
              <a:spcAft>
                <a:spcPts val="1200"/>
              </a:spcAft>
              <a:defRPr sz="1200">
                <a:solidFill>
                  <a:srgbClr val="233442"/>
                </a:solidFill>
                <a:latin typeface="Aptos"/>
              </a:defRPr>
            </a:pPr>
            <a:r>
              <a:t>•  Vazirani, V. V., Approximation Algorithms (Springer, 2001).</a:t>
            </a:r>
          </a:p>
          <a:p>
            <a:pPr>
              <a:spcAft>
                <a:spcPts val="1200"/>
              </a:spcAft>
              <a:defRPr sz="1200">
                <a:solidFill>
                  <a:srgbClr val="233442"/>
                </a:solidFill>
                <a:latin typeface="Aptos"/>
              </a:defRPr>
            </a:pPr>
            <a:r>
              <a:t>•  Christofides, N. (1976), Worst-case analysis of a new heuristic for the travelling salesman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5596128"/>
            <a:ext cx="4343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400" b="1" i="0">
                <a:solidFill>
                  <a:srgbClr val="269996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