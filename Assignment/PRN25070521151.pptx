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0794623-8C9B-412C-8445-565C89205CB5}" v="3" dt="2026-10-19T12:44:41.85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0" d="100"/>
          <a:sy n="100" d="100"/>
        </p:scale>
        <p:origin x="126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ditya marghade" userId="4c09af05af8f8ee4" providerId="LiveId" clId="{8B243763-F725-4100-9B2E-3CEE8C2515C8}"/>
    <pc:docChg chg="modSld">
      <pc:chgData name="aditya marghade" userId="4c09af05af8f8ee4" providerId="LiveId" clId="{8B243763-F725-4100-9B2E-3CEE8C2515C8}" dt="2026-10-19T12:47:19.787" v="70" actId="1076"/>
      <pc:docMkLst>
        <pc:docMk/>
      </pc:docMkLst>
      <pc:sldChg chg="addSp modSp mod">
        <pc:chgData name="aditya marghade" userId="4c09af05af8f8ee4" providerId="LiveId" clId="{8B243763-F725-4100-9B2E-3CEE8C2515C8}" dt="2026-10-19T12:44:30.510" v="36" actId="1076"/>
        <pc:sldMkLst>
          <pc:docMk/>
          <pc:sldMk cId="0" sldId="256"/>
        </pc:sldMkLst>
        <pc:spChg chg="add mod">
          <ac:chgData name="aditya marghade" userId="4c09af05af8f8ee4" providerId="LiveId" clId="{8B243763-F725-4100-9B2E-3CEE8C2515C8}" dt="2026-10-19T12:44:30.510" v="36" actId="1076"/>
          <ac:spMkLst>
            <pc:docMk/>
            <pc:sldMk cId="0" sldId="256"/>
            <ac:spMk id="27" creationId="{0E86C187-5AE8-1D60-95E3-1F7541BB8D18}"/>
          </ac:spMkLst>
        </pc:spChg>
      </pc:sldChg>
      <pc:sldChg chg="addSp modSp mod modAnim">
        <pc:chgData name="aditya marghade" userId="4c09af05af8f8ee4" providerId="LiveId" clId="{8B243763-F725-4100-9B2E-3CEE8C2515C8}" dt="2026-10-19T12:45:08.391" v="41" actId="1076"/>
        <pc:sldMkLst>
          <pc:docMk/>
          <pc:sldMk cId="0" sldId="257"/>
        </pc:sldMkLst>
        <pc:spChg chg="add mod">
          <ac:chgData name="aditya marghade" userId="4c09af05af8f8ee4" providerId="LiveId" clId="{8B243763-F725-4100-9B2E-3CEE8C2515C8}" dt="2026-10-19T12:45:08.391" v="41" actId="1076"/>
          <ac:spMkLst>
            <pc:docMk/>
            <pc:sldMk cId="0" sldId="257"/>
            <ac:spMk id="30" creationId="{0C88E0BE-67E8-022C-CF69-6C9491132304}"/>
          </ac:spMkLst>
        </pc:spChg>
        <pc:picChg chg="add mod">
          <ac:chgData name="aditya marghade" userId="4c09af05af8f8ee4" providerId="LiveId" clId="{8B243763-F725-4100-9B2E-3CEE8C2515C8}" dt="2026-10-19T12:44:41.853" v="38"/>
          <ac:picMkLst>
            <pc:docMk/>
            <pc:sldMk cId="0" sldId="257"/>
            <ac:picMk id="28" creationId="{D3B34BF0-3E28-7F10-FCE4-9E35CF04D489}"/>
          </ac:picMkLst>
        </pc:picChg>
      </pc:sldChg>
      <pc:sldChg chg="addSp modSp mod">
        <pc:chgData name="aditya marghade" userId="4c09af05af8f8ee4" providerId="LiveId" clId="{8B243763-F725-4100-9B2E-3CEE8C2515C8}" dt="2026-10-19T12:45:22.395" v="44" actId="1076"/>
        <pc:sldMkLst>
          <pc:docMk/>
          <pc:sldMk cId="0" sldId="258"/>
        </pc:sldMkLst>
        <pc:spChg chg="add mod">
          <ac:chgData name="aditya marghade" userId="4c09af05af8f8ee4" providerId="LiveId" clId="{8B243763-F725-4100-9B2E-3CEE8C2515C8}" dt="2026-10-19T12:45:22.395" v="44" actId="1076"/>
          <ac:spMkLst>
            <pc:docMk/>
            <pc:sldMk cId="0" sldId="258"/>
            <ac:spMk id="38" creationId="{6348C401-1AF0-7DFF-A107-3492BDA1BBB1}"/>
          </ac:spMkLst>
        </pc:spChg>
      </pc:sldChg>
      <pc:sldChg chg="addSp modSp mod">
        <pc:chgData name="aditya marghade" userId="4c09af05af8f8ee4" providerId="LiveId" clId="{8B243763-F725-4100-9B2E-3CEE8C2515C8}" dt="2026-10-19T12:45:33.316" v="47" actId="1076"/>
        <pc:sldMkLst>
          <pc:docMk/>
          <pc:sldMk cId="0" sldId="259"/>
        </pc:sldMkLst>
        <pc:spChg chg="add mod">
          <ac:chgData name="aditya marghade" userId="4c09af05af8f8ee4" providerId="LiveId" clId="{8B243763-F725-4100-9B2E-3CEE8C2515C8}" dt="2026-10-19T12:45:33.316" v="47" actId="1076"/>
          <ac:spMkLst>
            <pc:docMk/>
            <pc:sldMk cId="0" sldId="259"/>
            <ac:spMk id="38" creationId="{F6B6BB1B-8DF3-9036-A785-2281CE918DDE}"/>
          </ac:spMkLst>
        </pc:spChg>
      </pc:sldChg>
      <pc:sldChg chg="addSp modSp mod">
        <pc:chgData name="aditya marghade" userId="4c09af05af8f8ee4" providerId="LiveId" clId="{8B243763-F725-4100-9B2E-3CEE8C2515C8}" dt="2026-10-19T12:45:45.798" v="50" actId="1076"/>
        <pc:sldMkLst>
          <pc:docMk/>
          <pc:sldMk cId="0" sldId="260"/>
        </pc:sldMkLst>
        <pc:spChg chg="add mod">
          <ac:chgData name="aditya marghade" userId="4c09af05af8f8ee4" providerId="LiveId" clId="{8B243763-F725-4100-9B2E-3CEE8C2515C8}" dt="2026-10-19T12:45:45.798" v="50" actId="1076"/>
          <ac:spMkLst>
            <pc:docMk/>
            <pc:sldMk cId="0" sldId="260"/>
            <ac:spMk id="29" creationId="{BFD0DF93-E847-E138-6A11-A3EDD4EB953C}"/>
          </ac:spMkLst>
        </pc:spChg>
      </pc:sldChg>
      <pc:sldChg chg="addSp modSp mod">
        <pc:chgData name="aditya marghade" userId="4c09af05af8f8ee4" providerId="LiveId" clId="{8B243763-F725-4100-9B2E-3CEE8C2515C8}" dt="2026-10-19T12:45:56.162" v="52" actId="1076"/>
        <pc:sldMkLst>
          <pc:docMk/>
          <pc:sldMk cId="0" sldId="261"/>
        </pc:sldMkLst>
        <pc:spChg chg="add mod">
          <ac:chgData name="aditya marghade" userId="4c09af05af8f8ee4" providerId="LiveId" clId="{8B243763-F725-4100-9B2E-3CEE8C2515C8}" dt="2026-10-19T12:45:56.162" v="52" actId="1076"/>
          <ac:spMkLst>
            <pc:docMk/>
            <pc:sldMk cId="0" sldId="261"/>
            <ac:spMk id="49" creationId="{1129932F-A3BB-C5B6-925D-6E26981F8C40}"/>
          </ac:spMkLst>
        </pc:spChg>
      </pc:sldChg>
      <pc:sldChg chg="addSp modSp mod">
        <pc:chgData name="aditya marghade" userId="4c09af05af8f8ee4" providerId="LiveId" clId="{8B243763-F725-4100-9B2E-3CEE8C2515C8}" dt="2026-10-19T12:46:14.304" v="55" actId="1076"/>
        <pc:sldMkLst>
          <pc:docMk/>
          <pc:sldMk cId="0" sldId="262"/>
        </pc:sldMkLst>
        <pc:spChg chg="add mod">
          <ac:chgData name="aditya marghade" userId="4c09af05af8f8ee4" providerId="LiveId" clId="{8B243763-F725-4100-9B2E-3CEE8C2515C8}" dt="2026-10-19T12:46:14.304" v="55" actId="1076"/>
          <ac:spMkLst>
            <pc:docMk/>
            <pc:sldMk cId="0" sldId="262"/>
            <ac:spMk id="32" creationId="{28F555F8-D64B-315B-A7BB-74FBB93D55CC}"/>
          </ac:spMkLst>
        </pc:spChg>
      </pc:sldChg>
      <pc:sldChg chg="addSp modSp mod">
        <pc:chgData name="aditya marghade" userId="4c09af05af8f8ee4" providerId="LiveId" clId="{8B243763-F725-4100-9B2E-3CEE8C2515C8}" dt="2026-10-19T12:46:28.373" v="58" actId="1076"/>
        <pc:sldMkLst>
          <pc:docMk/>
          <pc:sldMk cId="0" sldId="263"/>
        </pc:sldMkLst>
        <pc:spChg chg="add mod">
          <ac:chgData name="aditya marghade" userId="4c09af05af8f8ee4" providerId="LiveId" clId="{8B243763-F725-4100-9B2E-3CEE8C2515C8}" dt="2026-10-19T12:46:28.373" v="58" actId="1076"/>
          <ac:spMkLst>
            <pc:docMk/>
            <pc:sldMk cId="0" sldId="263"/>
            <ac:spMk id="38" creationId="{C5CCAD69-D6C4-9885-D720-86DA601784E2}"/>
          </ac:spMkLst>
        </pc:spChg>
      </pc:sldChg>
      <pc:sldChg chg="addSp modSp mod">
        <pc:chgData name="aditya marghade" userId="4c09af05af8f8ee4" providerId="LiveId" clId="{8B243763-F725-4100-9B2E-3CEE8C2515C8}" dt="2026-10-19T12:46:41.536" v="61" actId="1076"/>
        <pc:sldMkLst>
          <pc:docMk/>
          <pc:sldMk cId="0" sldId="264"/>
        </pc:sldMkLst>
        <pc:spChg chg="add mod">
          <ac:chgData name="aditya marghade" userId="4c09af05af8f8ee4" providerId="LiveId" clId="{8B243763-F725-4100-9B2E-3CEE8C2515C8}" dt="2026-10-19T12:46:41.536" v="61" actId="1076"/>
          <ac:spMkLst>
            <pc:docMk/>
            <pc:sldMk cId="0" sldId="264"/>
            <ac:spMk id="38" creationId="{1A8BFD89-DBFC-DEF5-9FA9-6C28FB576B0D}"/>
          </ac:spMkLst>
        </pc:spChg>
      </pc:sldChg>
      <pc:sldChg chg="addSp modSp mod">
        <pc:chgData name="aditya marghade" userId="4c09af05af8f8ee4" providerId="LiveId" clId="{8B243763-F725-4100-9B2E-3CEE8C2515C8}" dt="2026-10-19T12:46:53.028" v="64" actId="1076"/>
        <pc:sldMkLst>
          <pc:docMk/>
          <pc:sldMk cId="0" sldId="265"/>
        </pc:sldMkLst>
        <pc:spChg chg="add mod">
          <ac:chgData name="aditya marghade" userId="4c09af05af8f8ee4" providerId="LiveId" clId="{8B243763-F725-4100-9B2E-3CEE8C2515C8}" dt="2026-10-19T12:46:53.028" v="64" actId="1076"/>
          <ac:spMkLst>
            <pc:docMk/>
            <pc:sldMk cId="0" sldId="265"/>
            <ac:spMk id="26" creationId="{45E64598-FACC-DE7E-EDA5-EE3FC862DBC2}"/>
          </ac:spMkLst>
        </pc:spChg>
      </pc:sldChg>
      <pc:sldChg chg="addSp modSp mod">
        <pc:chgData name="aditya marghade" userId="4c09af05af8f8ee4" providerId="LiveId" clId="{8B243763-F725-4100-9B2E-3CEE8C2515C8}" dt="2026-10-19T12:47:04.196" v="67" actId="1076"/>
        <pc:sldMkLst>
          <pc:docMk/>
          <pc:sldMk cId="0" sldId="266"/>
        </pc:sldMkLst>
        <pc:spChg chg="add mod">
          <ac:chgData name="aditya marghade" userId="4c09af05af8f8ee4" providerId="LiveId" clId="{8B243763-F725-4100-9B2E-3CEE8C2515C8}" dt="2026-10-19T12:47:04.196" v="67" actId="1076"/>
          <ac:spMkLst>
            <pc:docMk/>
            <pc:sldMk cId="0" sldId="266"/>
            <ac:spMk id="24" creationId="{0344DB65-C86C-23A3-4C8B-6331ABA4F1EE}"/>
          </ac:spMkLst>
        </pc:spChg>
      </pc:sldChg>
      <pc:sldChg chg="addSp modSp mod">
        <pc:chgData name="aditya marghade" userId="4c09af05af8f8ee4" providerId="LiveId" clId="{8B243763-F725-4100-9B2E-3CEE8C2515C8}" dt="2026-10-19T12:47:19.787" v="70" actId="1076"/>
        <pc:sldMkLst>
          <pc:docMk/>
          <pc:sldMk cId="0" sldId="267"/>
        </pc:sldMkLst>
        <pc:spChg chg="add mod">
          <ac:chgData name="aditya marghade" userId="4c09af05af8f8ee4" providerId="LiveId" clId="{8B243763-F725-4100-9B2E-3CEE8C2515C8}" dt="2026-10-19T12:47:19.787" v="70" actId="1076"/>
          <ac:spMkLst>
            <pc:docMk/>
            <pc:sldMk cId="0" sldId="267"/>
            <ac:spMk id="16" creationId="{2DA46842-FDA7-2F70-C9C7-81D8C108BCAF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B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543800" y="640080"/>
            <a:ext cx="3886200" cy="5440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818120" y="914400"/>
            <a:ext cx="3337560" cy="4892040"/>
          </a:xfrm>
          <a:prstGeom prst="roundRect">
            <a:avLst/>
          </a:prstGeom>
          <a:solidFill>
            <a:srgbClr val="F6FAFB"/>
          </a:solidFill>
          <a:ln w="12700">
            <a:solidFill>
              <a:srgbClr val="DA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" name="Connector 3"/>
          <p:cNvCxnSpPr/>
          <p:nvPr/>
        </p:nvCxnSpPr>
        <p:spPr>
          <a:xfrm>
            <a:off x="8732520" y="1874519"/>
            <a:ext cx="1463040" cy="365761"/>
          </a:xfrm>
          <a:prstGeom prst="line">
            <a:avLst/>
          </a:prstGeom>
          <a:ln w="38100">
            <a:solidFill>
              <a:srgbClr val="2699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10058400" y="2240280"/>
            <a:ext cx="137160" cy="1737359"/>
          </a:xfrm>
          <a:prstGeom prst="line">
            <a:avLst/>
          </a:prstGeom>
          <a:ln w="38100">
            <a:solidFill>
              <a:srgbClr val="2699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H="1">
            <a:off x="8549640" y="3977639"/>
            <a:ext cx="1508760" cy="365761"/>
          </a:xfrm>
          <a:prstGeom prst="line">
            <a:avLst/>
          </a:prstGeom>
          <a:ln w="38100">
            <a:solidFill>
              <a:srgbClr val="2699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8549640" y="1874519"/>
            <a:ext cx="182880" cy="2468881"/>
          </a:xfrm>
          <a:prstGeom prst="line">
            <a:avLst/>
          </a:prstGeom>
          <a:ln w="38100">
            <a:solidFill>
              <a:srgbClr val="2699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732520" y="1874519"/>
            <a:ext cx="1325880" cy="2103120"/>
          </a:xfrm>
          <a:prstGeom prst="line">
            <a:avLst/>
          </a:prstGeom>
          <a:ln w="17780">
            <a:solidFill>
              <a:srgbClr val="DA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8549640" y="2240280"/>
            <a:ext cx="1645920" cy="2103120"/>
          </a:xfrm>
          <a:prstGeom prst="line">
            <a:avLst/>
          </a:prstGeom>
          <a:ln w="17780">
            <a:solidFill>
              <a:srgbClr val="DA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8503920" y="1645919"/>
            <a:ext cx="457200" cy="457200"/>
          </a:xfrm>
          <a:prstGeom prst="ellipse">
            <a:avLst/>
          </a:prstGeom>
          <a:solidFill>
            <a:srgbClr val="26999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503920" y="1691639"/>
            <a:ext cx="4572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A</a:t>
            </a:r>
          </a:p>
        </p:txBody>
      </p:sp>
      <p:sp>
        <p:nvSpPr>
          <p:cNvPr id="12" name="Oval 11"/>
          <p:cNvSpPr/>
          <p:nvPr/>
        </p:nvSpPr>
        <p:spPr>
          <a:xfrm>
            <a:off x="9966960" y="2011680"/>
            <a:ext cx="457200" cy="457200"/>
          </a:xfrm>
          <a:prstGeom prst="ellipse">
            <a:avLst/>
          </a:prstGeom>
          <a:solidFill>
            <a:srgbClr val="3670A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966960" y="2057400"/>
            <a:ext cx="4572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B</a:t>
            </a:r>
          </a:p>
        </p:txBody>
      </p:sp>
      <p:sp>
        <p:nvSpPr>
          <p:cNvPr id="14" name="Oval 13"/>
          <p:cNvSpPr/>
          <p:nvPr/>
        </p:nvSpPr>
        <p:spPr>
          <a:xfrm>
            <a:off x="9829800" y="3749039"/>
            <a:ext cx="457200" cy="457200"/>
          </a:xfrm>
          <a:prstGeom prst="ellipse">
            <a:avLst/>
          </a:prstGeom>
          <a:solidFill>
            <a:srgbClr val="3670A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829800" y="3794759"/>
            <a:ext cx="4572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C</a:t>
            </a:r>
          </a:p>
        </p:txBody>
      </p:sp>
      <p:sp>
        <p:nvSpPr>
          <p:cNvPr id="16" name="Oval 15"/>
          <p:cNvSpPr/>
          <p:nvPr/>
        </p:nvSpPr>
        <p:spPr>
          <a:xfrm>
            <a:off x="8321040" y="4114800"/>
            <a:ext cx="457200" cy="457200"/>
          </a:xfrm>
          <a:prstGeom prst="ellipse">
            <a:avLst/>
          </a:prstGeom>
          <a:solidFill>
            <a:srgbClr val="3670A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21040" y="4160520"/>
            <a:ext cx="4572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1051560"/>
            <a:ext cx="6217920" cy="32004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200" b="1" i="0">
                <a:solidFill>
                  <a:srgbClr val="269996"/>
                </a:solidFill>
                <a:latin typeface="Aptos"/>
              </a:rPr>
              <a:t>DESIGN &amp; ANALYSIS OF ALGORITHMS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1691640"/>
            <a:ext cx="6400800" cy="141732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3400" b="1" i="0">
                <a:solidFill>
                  <a:srgbClr val="182F4B"/>
                </a:solidFill>
                <a:latin typeface="Aptos"/>
              </a:rPr>
              <a:t>Travelling
Salesman Problem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337560"/>
            <a:ext cx="5989320" cy="82296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2000" b="0" i="0" dirty="0">
                <a:solidFill>
                  <a:srgbClr val="5E707E"/>
                </a:solidFill>
                <a:latin typeface="Aptos"/>
              </a:rPr>
              <a:t>Finding the lowest-cost tour that visits every city once and returns to the start.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617720"/>
            <a:ext cx="1508760" cy="310896"/>
          </a:xfrm>
          <a:prstGeom prst="roundRect">
            <a:avLst/>
          </a:prstGeom>
          <a:solidFill>
            <a:srgbClr val="D5F2EB"/>
          </a:solidFill>
          <a:ln w="12700">
            <a:solidFill>
              <a:srgbClr val="D5F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04672" y="4640580"/>
            <a:ext cx="1453895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182F4B"/>
                </a:solidFill>
                <a:latin typeface="Aptos"/>
              </a:rPr>
              <a:t>GRAPH THEORY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23160" y="4617720"/>
            <a:ext cx="192024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450591" y="4640580"/>
            <a:ext cx="1865376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3670A6"/>
                </a:solidFill>
                <a:latin typeface="Aptos"/>
              </a:rPr>
              <a:t>OPTIMIZATION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989320"/>
            <a:ext cx="6217920" cy="27432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300" b="0" i="0">
                <a:solidFill>
                  <a:srgbClr val="5E707E"/>
                </a:solidFill>
                <a:latin typeface="Aptos"/>
              </a:rPr>
              <a:t>A visual, student-friendly guide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2720" y="6144768"/>
            <a:ext cx="640080" cy="22860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r"/>
            <a:r>
              <a:rPr sz="1000" b="1" i="0">
                <a:solidFill>
                  <a:srgbClr val="269996"/>
                </a:solidFill>
                <a:latin typeface="Aptos"/>
              </a:rPr>
              <a:t>TSP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E86C187-5AE8-1D60-95E3-1F7541BB8D18}"/>
              </a:ext>
            </a:extLst>
          </p:cNvPr>
          <p:cNvSpPr txBox="1"/>
          <p:nvPr/>
        </p:nvSpPr>
        <p:spPr>
          <a:xfrm>
            <a:off x="10424160" y="32385"/>
            <a:ext cx="19050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Made with </a:t>
            </a:r>
            <a:r>
              <a:rPr lang="en-US" sz="1600" dirty="0" err="1"/>
              <a:t>ChatGpt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56032"/>
            <a:ext cx="9875520" cy="25603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000" b="1" i="0">
                <a:solidFill>
                  <a:srgbClr val="269996"/>
                </a:solidFill>
                <a:latin typeface="Aptos"/>
              </a:rPr>
              <a:t>01 · THE CORE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566928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2700" b="1" i="0">
                <a:solidFill>
                  <a:srgbClr val="182F4B"/>
                </a:solidFill>
                <a:latin typeface="Aptos"/>
              </a:rPr>
              <a:t>What is the Travelling Salesman Problem?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143000"/>
            <a:ext cx="685800" cy="41148"/>
          </a:xfrm>
          <a:prstGeom prst="rect">
            <a:avLst/>
          </a:prstGeom>
          <a:solidFill>
            <a:srgbClr val="2699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247120" y="6510528"/>
            <a:ext cx="411480" cy="1828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r"/>
            <a:r>
              <a:rPr sz="900" b="1" i="0">
                <a:solidFill>
                  <a:srgbClr val="5E707E"/>
                </a:solidFill>
                <a:latin typeface="Aptos"/>
              </a:rPr>
              <a:t>02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508760"/>
            <a:ext cx="640080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5806440" cy="4114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2100" b="1" i="0">
                <a:solidFill>
                  <a:srgbClr val="182F4B"/>
                </a:solidFill>
                <a:latin typeface="Aptos"/>
              </a:rPr>
              <a:t>The goal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267712"/>
            <a:ext cx="5715000" cy="96012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2000" b="0" i="0">
                <a:solidFill>
                  <a:srgbClr val="233442"/>
                </a:solidFill>
                <a:latin typeface="Aptos"/>
              </a:rPr>
              <a:t>Visit every city exactly once, then return to the starting city, while minimizing the total travel cost.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520440"/>
            <a:ext cx="5715000" cy="1097280"/>
          </a:xfrm>
          <a:prstGeom prst="roundRect">
            <a:avLst/>
          </a:prstGeom>
          <a:solidFill>
            <a:srgbClr val="EBF5F8"/>
          </a:solidFill>
          <a:ln w="12700">
            <a:solidFill>
              <a:srgbClr val="EBF5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43000" y="3703320"/>
            <a:ext cx="5303520" cy="32004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300" b="1" i="0">
                <a:solidFill>
                  <a:srgbClr val="269996"/>
                </a:solidFill>
                <a:latin typeface="Aptos"/>
              </a:rPr>
              <a:t>Minimize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4005072"/>
            <a:ext cx="5212080" cy="384048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800" b="1" i="0">
                <a:solidFill>
                  <a:srgbClr val="182F4B"/>
                </a:solidFill>
                <a:latin typeface="Aptos"/>
              </a:rPr>
              <a:t>Total tour cost = sum of edge weights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074920"/>
            <a:ext cx="5760720" cy="4114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500" b="0" i="0">
                <a:solidFill>
                  <a:srgbClr val="5E707E"/>
                </a:solidFill>
                <a:latin typeface="Aptos"/>
              </a:rPr>
              <a:t>Example: a courier must deliver to 4 addresses and return to the depot.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0" y="1508760"/>
            <a:ext cx="416052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635240" y="1783080"/>
            <a:ext cx="3566160" cy="36576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800" b="1" i="0">
                <a:solidFill>
                  <a:srgbClr val="182F4B"/>
                </a:solidFill>
                <a:latin typeface="Aptos"/>
              </a:rPr>
              <a:t>Think of it like…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8138160" y="2606040"/>
            <a:ext cx="1691640" cy="137160"/>
          </a:xfrm>
          <a:prstGeom prst="line">
            <a:avLst/>
          </a:prstGeom>
          <a:ln w="38100">
            <a:solidFill>
              <a:srgbClr val="2699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829800" y="2606040"/>
            <a:ext cx="594360" cy="1463040"/>
          </a:xfrm>
          <a:prstGeom prst="line">
            <a:avLst/>
          </a:prstGeom>
          <a:ln w="38100">
            <a:solidFill>
              <a:srgbClr val="2699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8412480" y="4069080"/>
            <a:ext cx="2011680" cy="411480"/>
          </a:xfrm>
          <a:prstGeom prst="line">
            <a:avLst/>
          </a:prstGeom>
          <a:ln w="38100">
            <a:solidFill>
              <a:srgbClr val="2699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 flipV="1">
            <a:off x="8138160" y="2743200"/>
            <a:ext cx="274320" cy="1737360"/>
          </a:xfrm>
          <a:prstGeom prst="line">
            <a:avLst/>
          </a:prstGeom>
          <a:ln w="38100">
            <a:solidFill>
              <a:srgbClr val="2699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7872984" y="2478024"/>
            <a:ext cx="530352" cy="530352"/>
          </a:xfrm>
          <a:prstGeom prst="ellipse">
            <a:avLst/>
          </a:prstGeom>
          <a:solidFill>
            <a:srgbClr val="26999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872984" y="2523744"/>
            <a:ext cx="530352" cy="4571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Depot</a:t>
            </a:r>
          </a:p>
        </p:txBody>
      </p:sp>
      <p:sp>
        <p:nvSpPr>
          <p:cNvPr id="21" name="Oval 20"/>
          <p:cNvSpPr/>
          <p:nvPr/>
        </p:nvSpPr>
        <p:spPr>
          <a:xfrm>
            <a:off x="9564624" y="2340864"/>
            <a:ext cx="530352" cy="530352"/>
          </a:xfrm>
          <a:prstGeom prst="ellipse">
            <a:avLst/>
          </a:prstGeom>
          <a:solidFill>
            <a:srgbClr val="3670A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564624" y="2386584"/>
            <a:ext cx="530352" cy="4571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3" name="Oval 22"/>
          <p:cNvSpPr/>
          <p:nvPr/>
        </p:nvSpPr>
        <p:spPr>
          <a:xfrm>
            <a:off x="10158984" y="3803904"/>
            <a:ext cx="530352" cy="530352"/>
          </a:xfrm>
          <a:prstGeom prst="ellipse">
            <a:avLst/>
          </a:prstGeom>
          <a:solidFill>
            <a:srgbClr val="3670A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158984" y="3849624"/>
            <a:ext cx="530352" cy="4571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5" name="Oval 24"/>
          <p:cNvSpPr/>
          <p:nvPr/>
        </p:nvSpPr>
        <p:spPr>
          <a:xfrm>
            <a:off x="8147304" y="4215384"/>
            <a:ext cx="530352" cy="530352"/>
          </a:xfrm>
          <a:prstGeom prst="ellipse">
            <a:avLst/>
          </a:prstGeom>
          <a:solidFill>
            <a:srgbClr val="3670A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147304" y="4261104"/>
            <a:ext cx="530352" cy="4571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26679" y="5074920"/>
            <a:ext cx="3429000" cy="50292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ctr"/>
            <a:r>
              <a:rPr sz="1400" b="0" i="0">
                <a:solidFill>
                  <a:srgbClr val="5E707E"/>
                </a:solidFill>
                <a:latin typeface="Aptos"/>
              </a:rPr>
              <a:t>One complete loop — no city skipped or repeated.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C88E0BE-67E8-022C-CF69-6C9491132304}"/>
              </a:ext>
            </a:extLst>
          </p:cNvPr>
          <p:cNvSpPr txBox="1"/>
          <p:nvPr/>
        </p:nvSpPr>
        <p:spPr>
          <a:xfrm>
            <a:off x="10306050" y="44082"/>
            <a:ext cx="188595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Made with </a:t>
            </a:r>
            <a:r>
              <a:rPr lang="en-US" sz="1600" dirty="0" err="1"/>
              <a:t>ChatGpt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56032"/>
            <a:ext cx="9875520" cy="25603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000" b="1" i="0">
                <a:solidFill>
                  <a:srgbClr val="269996"/>
                </a:solidFill>
                <a:latin typeface="Aptos"/>
              </a:rPr>
              <a:t>02 · GRAPH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566928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2700" b="1" i="0">
                <a:solidFill>
                  <a:srgbClr val="182F4B"/>
                </a:solidFill>
                <a:latin typeface="Aptos"/>
              </a:rPr>
              <a:t>Representing TSP as a weighted graph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143000"/>
            <a:ext cx="685800" cy="41148"/>
          </a:xfrm>
          <a:prstGeom prst="rect">
            <a:avLst/>
          </a:prstGeom>
          <a:solidFill>
            <a:srgbClr val="2699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247120" y="6510528"/>
            <a:ext cx="411480" cy="1828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r"/>
            <a:r>
              <a:rPr sz="900" b="1" i="0">
                <a:solidFill>
                  <a:srgbClr val="5E707E"/>
                </a:solidFill>
                <a:latin typeface="Aptos"/>
              </a:rPr>
              <a:t>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508760"/>
            <a:ext cx="653796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 flipV="1">
            <a:off x="1920240" y="2331720"/>
            <a:ext cx="3246120" cy="91440"/>
          </a:xfrm>
          <a:prstGeom prst="line">
            <a:avLst/>
          </a:prstGeom>
          <a:ln w="35560">
            <a:solidFill>
              <a:srgbClr val="2699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323844" y="2039111"/>
            <a:ext cx="438912" cy="246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342132" y="2052827"/>
            <a:ext cx="40233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182F4B"/>
                </a:solidFill>
                <a:latin typeface="Aptos"/>
              </a:rPr>
              <a:t>10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166360" y="2331720"/>
            <a:ext cx="411480" cy="2240280"/>
          </a:xfrm>
          <a:prstGeom prst="line">
            <a:avLst/>
          </a:prstGeom>
          <a:ln w="35560">
            <a:solidFill>
              <a:srgbClr val="2699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381244" y="3314700"/>
            <a:ext cx="438912" cy="246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399532" y="3328415"/>
            <a:ext cx="40233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182F4B"/>
                </a:solidFill>
                <a:latin typeface="Aptos"/>
              </a:rPr>
              <a:t>25</a:t>
            </a:r>
          </a:p>
        </p:txBody>
      </p:sp>
      <p:cxnSp>
        <p:nvCxnSpPr>
          <p:cNvPr id="13" name="Connector 12"/>
          <p:cNvCxnSpPr/>
          <p:nvPr/>
        </p:nvCxnSpPr>
        <p:spPr>
          <a:xfrm flipH="1">
            <a:off x="2148840" y="4572000"/>
            <a:ext cx="3429000" cy="137160"/>
          </a:xfrm>
          <a:prstGeom prst="line">
            <a:avLst/>
          </a:prstGeom>
          <a:ln w="35560">
            <a:solidFill>
              <a:srgbClr val="2699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643883" y="4704588"/>
            <a:ext cx="438912" cy="246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662172" y="4718304"/>
            <a:ext cx="40233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182F4B"/>
                </a:solidFill>
                <a:latin typeface="Aptos"/>
              </a:rPr>
              <a:t>30</a:t>
            </a:r>
          </a:p>
        </p:txBody>
      </p:sp>
      <p:cxnSp>
        <p:nvCxnSpPr>
          <p:cNvPr id="16" name="Connector 15"/>
          <p:cNvCxnSpPr/>
          <p:nvPr/>
        </p:nvCxnSpPr>
        <p:spPr>
          <a:xfrm flipH="1" flipV="1">
            <a:off x="1920240" y="2423160"/>
            <a:ext cx="228600" cy="2286000"/>
          </a:xfrm>
          <a:prstGeom prst="line">
            <a:avLst/>
          </a:prstGeom>
          <a:ln w="35560">
            <a:solidFill>
              <a:srgbClr val="2699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586484" y="3429000"/>
            <a:ext cx="438912" cy="246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604772" y="3442716"/>
            <a:ext cx="40233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182F4B"/>
                </a:solidFill>
                <a:latin typeface="Aptos"/>
              </a:rPr>
              <a:t>20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920240" y="2423160"/>
            <a:ext cx="3657600" cy="2148840"/>
          </a:xfrm>
          <a:prstGeom prst="line">
            <a:avLst/>
          </a:prstGeom>
          <a:ln w="19050">
            <a:solidFill>
              <a:srgbClr val="DA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3758183" y="3314700"/>
            <a:ext cx="438912" cy="246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776472" y="3328416"/>
            <a:ext cx="40233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182F4B"/>
                </a:solidFill>
                <a:latin typeface="Aptos"/>
              </a:rPr>
              <a:t>15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2148840" y="2331720"/>
            <a:ext cx="3017520" cy="2377440"/>
          </a:xfrm>
          <a:prstGeom prst="line">
            <a:avLst/>
          </a:prstGeom>
          <a:ln w="19050">
            <a:solidFill>
              <a:srgbClr val="DA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3255263" y="3429000"/>
            <a:ext cx="438912" cy="246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273551" y="3442715"/>
            <a:ext cx="40233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182F4B"/>
                </a:solidFill>
                <a:latin typeface="Aptos"/>
              </a:rPr>
              <a:t>25</a:t>
            </a:r>
          </a:p>
        </p:txBody>
      </p:sp>
      <p:sp>
        <p:nvSpPr>
          <p:cNvPr id="25" name="Oval 24"/>
          <p:cNvSpPr/>
          <p:nvPr/>
        </p:nvSpPr>
        <p:spPr>
          <a:xfrm>
            <a:off x="1682496" y="2185415"/>
            <a:ext cx="475488" cy="475488"/>
          </a:xfrm>
          <a:prstGeom prst="ellipse">
            <a:avLst/>
          </a:prstGeom>
          <a:solidFill>
            <a:srgbClr val="26999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682496" y="2231135"/>
            <a:ext cx="475488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A</a:t>
            </a:r>
          </a:p>
        </p:txBody>
      </p:sp>
      <p:sp>
        <p:nvSpPr>
          <p:cNvPr id="27" name="Oval 26"/>
          <p:cNvSpPr/>
          <p:nvPr/>
        </p:nvSpPr>
        <p:spPr>
          <a:xfrm>
            <a:off x="4928616" y="2093976"/>
            <a:ext cx="475488" cy="475488"/>
          </a:xfrm>
          <a:prstGeom prst="ellipse">
            <a:avLst/>
          </a:prstGeom>
          <a:solidFill>
            <a:srgbClr val="3670A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928616" y="2139696"/>
            <a:ext cx="475488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B</a:t>
            </a:r>
          </a:p>
        </p:txBody>
      </p:sp>
      <p:sp>
        <p:nvSpPr>
          <p:cNvPr id="29" name="Oval 28"/>
          <p:cNvSpPr/>
          <p:nvPr/>
        </p:nvSpPr>
        <p:spPr>
          <a:xfrm>
            <a:off x="5340096" y="4334256"/>
            <a:ext cx="475488" cy="475488"/>
          </a:xfrm>
          <a:prstGeom prst="ellipse">
            <a:avLst/>
          </a:prstGeom>
          <a:solidFill>
            <a:srgbClr val="3670A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340096" y="4379976"/>
            <a:ext cx="475488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C</a:t>
            </a:r>
          </a:p>
        </p:txBody>
      </p:sp>
      <p:sp>
        <p:nvSpPr>
          <p:cNvPr id="31" name="Oval 30"/>
          <p:cNvSpPr/>
          <p:nvPr/>
        </p:nvSpPr>
        <p:spPr>
          <a:xfrm>
            <a:off x="1911095" y="4471416"/>
            <a:ext cx="475488" cy="475488"/>
          </a:xfrm>
          <a:prstGeom prst="ellipse">
            <a:avLst/>
          </a:prstGeom>
          <a:solidFill>
            <a:srgbClr val="3670A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911095" y="4517136"/>
            <a:ext cx="475488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498079" y="1508760"/>
            <a:ext cx="3977639" cy="4526280"/>
          </a:xfrm>
          <a:prstGeom prst="roundRect">
            <a:avLst/>
          </a:prstGeom>
          <a:solidFill>
            <a:srgbClr val="EBF5F8"/>
          </a:solidFill>
          <a:ln w="12700">
            <a:solidFill>
              <a:srgbClr val="EBF5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818120" y="1783080"/>
            <a:ext cx="3383280" cy="4114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900" b="1" i="0">
                <a:solidFill>
                  <a:srgbClr val="182F4B"/>
                </a:solidFill>
                <a:latin typeface="Aptos"/>
              </a:rPr>
              <a:t>Graph vocabulary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18120" y="2331720"/>
            <a:ext cx="3337560" cy="2377440"/>
          </a:xfrm>
          <a:prstGeom prst="rect">
            <a:avLst/>
          </a:prstGeom>
          <a:noFill/>
        </p:spPr>
        <p:txBody>
          <a:bodyPr wrap="square" lIns="45720" tIns="27432" rIns="36576" bIns="27432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233442"/>
                </a:solidFill>
                <a:latin typeface="Aptos"/>
              </a:defRPr>
            </a:pPr>
            <a:r>
              <a:t>•  Vertex (node) = a city</a:t>
            </a:r>
          </a:p>
          <a:p>
            <a:pPr>
              <a:spcAft>
                <a:spcPts val="1200"/>
              </a:spcAft>
              <a:defRPr sz="1600">
                <a:solidFill>
                  <a:srgbClr val="233442"/>
                </a:solidFill>
                <a:latin typeface="Aptos"/>
              </a:defRPr>
            </a:pPr>
            <a:r>
              <a:t>•  Edge = a direct connection</a:t>
            </a:r>
          </a:p>
          <a:p>
            <a:pPr>
              <a:spcAft>
                <a:spcPts val="1200"/>
              </a:spcAft>
              <a:defRPr sz="1600">
                <a:solidFill>
                  <a:srgbClr val="233442"/>
                </a:solidFill>
                <a:latin typeface="Aptos"/>
              </a:defRPr>
            </a:pPr>
            <a:r>
              <a:t>•  Weight = distance, time, or cost</a:t>
            </a:r>
          </a:p>
          <a:p>
            <a:pPr>
              <a:spcAft>
                <a:spcPts val="1200"/>
              </a:spcAft>
              <a:defRPr sz="1600">
                <a:solidFill>
                  <a:srgbClr val="233442"/>
                </a:solidFill>
                <a:latin typeface="Aptos"/>
              </a:defRPr>
            </a:pPr>
            <a:r>
              <a:t>•  Tour = a cycle through all cities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18120" y="4892040"/>
            <a:ext cx="3291840" cy="77724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500" b="1" i="0">
                <a:solidFill>
                  <a:srgbClr val="269996"/>
                </a:solidFill>
                <a:latin typeface="Aptos"/>
              </a:rPr>
              <a:t>A valid tour visits each vertex once and returns to its start.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348C401-1AF0-7DFF-A107-3492BDA1BBB1}"/>
              </a:ext>
            </a:extLst>
          </p:cNvPr>
          <p:cNvSpPr txBox="1"/>
          <p:nvPr/>
        </p:nvSpPr>
        <p:spPr>
          <a:xfrm>
            <a:off x="10442448" y="45493"/>
            <a:ext cx="190347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Made with </a:t>
            </a:r>
            <a:r>
              <a:rPr lang="en-US" sz="1600" dirty="0" err="1"/>
              <a:t>ChatGpt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56032"/>
            <a:ext cx="9875520" cy="25603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000" b="1" i="0">
                <a:solidFill>
                  <a:srgbClr val="269996"/>
                </a:solidFill>
                <a:latin typeface="Aptos"/>
              </a:rPr>
              <a:t>03 · WORKING 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566928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2700" b="1" i="0">
                <a:solidFill>
                  <a:srgbClr val="182F4B"/>
                </a:solidFill>
                <a:latin typeface="Aptos"/>
              </a:rPr>
              <a:t>A 4-city example: compare the tours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143000"/>
            <a:ext cx="685800" cy="41148"/>
          </a:xfrm>
          <a:prstGeom prst="rect">
            <a:avLst/>
          </a:prstGeom>
          <a:solidFill>
            <a:srgbClr val="2699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247120" y="6510528"/>
            <a:ext cx="411480" cy="1828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r"/>
            <a:r>
              <a:rPr sz="900" b="1" i="0">
                <a:solidFill>
                  <a:srgbClr val="5E707E"/>
                </a:solidFill>
                <a:latin typeface="Aptos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10789920" cy="4114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400" b="0" i="0">
                <a:solidFill>
                  <a:srgbClr val="5E707E"/>
                </a:solidFill>
                <a:latin typeface="Aptos"/>
              </a:rPr>
              <a:t>Distances are illustrative units. Because this graph is symmetric, reversing a tour has the same cost.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057400"/>
            <a:ext cx="3108960" cy="585216"/>
          </a:xfrm>
          <a:prstGeom prst="roundRect">
            <a:avLst/>
          </a:prstGeom>
          <a:solidFill>
            <a:srgbClr val="182F4B"/>
          </a:solidFill>
          <a:ln w="12700">
            <a:solidFill>
              <a:srgbClr val="DA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04672" y="2130552"/>
            <a:ext cx="2962656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Tour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13632" y="2057400"/>
            <a:ext cx="4114800" cy="585216"/>
          </a:xfrm>
          <a:prstGeom prst="roundRect">
            <a:avLst/>
          </a:prstGeom>
          <a:solidFill>
            <a:srgbClr val="182F4B"/>
          </a:solidFill>
          <a:ln w="12700">
            <a:solidFill>
              <a:srgbClr val="DA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986784" y="2130552"/>
            <a:ext cx="3968496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Calculation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01583" y="2057400"/>
            <a:ext cx="1280160" cy="585216"/>
          </a:xfrm>
          <a:prstGeom prst="roundRect">
            <a:avLst/>
          </a:prstGeom>
          <a:solidFill>
            <a:srgbClr val="182F4B"/>
          </a:solidFill>
          <a:ln w="12700">
            <a:solidFill>
              <a:srgbClr val="DA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174736" y="2130552"/>
            <a:ext cx="1133856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Total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679192"/>
            <a:ext cx="310896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04672" y="2752344"/>
            <a:ext cx="2962656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0" i="0">
                <a:solidFill>
                  <a:srgbClr val="233442"/>
                </a:solidFill>
                <a:latin typeface="Aptos"/>
              </a:rPr>
              <a:t>A → B → C → D → 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13632" y="2679192"/>
            <a:ext cx="4114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986784" y="2752344"/>
            <a:ext cx="3968496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0" i="0">
                <a:solidFill>
                  <a:srgbClr val="233442"/>
                </a:solidFill>
                <a:latin typeface="Aptos"/>
              </a:rPr>
              <a:t>10 + 25 + 30 + 20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01583" y="2679192"/>
            <a:ext cx="128016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174736" y="2752344"/>
            <a:ext cx="1133856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0" i="0">
                <a:solidFill>
                  <a:srgbClr val="233442"/>
                </a:solidFill>
                <a:latin typeface="Aptos"/>
              </a:rPr>
              <a:t>85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3300984"/>
            <a:ext cx="3108960" cy="585216"/>
          </a:xfrm>
          <a:prstGeom prst="roundRect">
            <a:avLst/>
          </a:prstGeom>
          <a:solidFill>
            <a:srgbClr val="D5F2EB"/>
          </a:solidFill>
          <a:ln w="12700">
            <a:solidFill>
              <a:srgbClr val="2699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04672" y="3374136"/>
            <a:ext cx="2962656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233442"/>
                </a:solidFill>
                <a:latin typeface="Aptos"/>
              </a:rPr>
              <a:t>A → B → D → C → 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913632" y="3300984"/>
            <a:ext cx="4114800" cy="585216"/>
          </a:xfrm>
          <a:prstGeom prst="roundRect">
            <a:avLst/>
          </a:prstGeom>
          <a:solidFill>
            <a:srgbClr val="D5F2EB"/>
          </a:solidFill>
          <a:ln w="12700">
            <a:solidFill>
              <a:srgbClr val="2699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986784" y="3374136"/>
            <a:ext cx="3968496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233442"/>
                </a:solidFill>
                <a:latin typeface="Aptos"/>
              </a:rPr>
              <a:t>10 + 25 + 30 + 15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01583" y="3300984"/>
            <a:ext cx="1280160" cy="585216"/>
          </a:xfrm>
          <a:prstGeom prst="roundRect">
            <a:avLst/>
          </a:prstGeom>
          <a:solidFill>
            <a:srgbClr val="D5F2EB"/>
          </a:solidFill>
          <a:ln w="12700">
            <a:solidFill>
              <a:srgbClr val="2699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174736" y="3374136"/>
            <a:ext cx="1133856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269996"/>
                </a:solidFill>
                <a:latin typeface="Aptos"/>
              </a:rPr>
              <a:t>80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3922776"/>
            <a:ext cx="310896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04672" y="3995928"/>
            <a:ext cx="2962656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0" i="0">
                <a:solidFill>
                  <a:srgbClr val="233442"/>
                </a:solidFill>
                <a:latin typeface="Aptos"/>
              </a:rPr>
              <a:t>A → C → B → D → 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913632" y="3922776"/>
            <a:ext cx="4114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986784" y="3995928"/>
            <a:ext cx="3968496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0" i="0">
                <a:solidFill>
                  <a:srgbClr val="233442"/>
                </a:solidFill>
                <a:latin typeface="Aptos"/>
              </a:rPr>
              <a:t>15 + 25 + 25 + 20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01583" y="3922776"/>
            <a:ext cx="128016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174736" y="3995928"/>
            <a:ext cx="1133856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0" i="0">
                <a:solidFill>
                  <a:srgbClr val="233442"/>
                </a:solidFill>
                <a:latin typeface="Aptos"/>
              </a:rPr>
              <a:t>85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281160" y="2057400"/>
            <a:ext cx="214884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509760" y="2331720"/>
            <a:ext cx="1691640" cy="32004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ctr"/>
            <a:r>
              <a:rPr sz="1500" b="1" i="0">
                <a:solidFill>
                  <a:srgbClr val="5E707E"/>
                </a:solidFill>
                <a:latin typeface="Aptos"/>
              </a:rPr>
              <a:t>Best tour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64040" y="2834640"/>
            <a:ext cx="1783080" cy="45720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ctr"/>
            <a:r>
              <a:rPr sz="2400" b="1" i="0">
                <a:solidFill>
                  <a:srgbClr val="269996"/>
                </a:solidFill>
                <a:latin typeface="Aptos"/>
              </a:rPr>
              <a:t>80 units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64040" y="3520440"/>
            <a:ext cx="1783080" cy="6400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ctr"/>
            <a:r>
              <a:rPr sz="1300" b="1" i="0">
                <a:solidFill>
                  <a:srgbClr val="182F4B"/>
                </a:solidFill>
                <a:latin typeface="Aptos"/>
              </a:rPr>
              <a:t>A → B → D → C → A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31520" y="4983480"/>
            <a:ext cx="10698480" cy="777240"/>
          </a:xfrm>
          <a:prstGeom prst="roundRect">
            <a:avLst/>
          </a:prstGeom>
          <a:solidFill>
            <a:srgbClr val="EBF5F8"/>
          </a:solidFill>
          <a:ln w="12700">
            <a:solidFill>
              <a:srgbClr val="EBF5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60120" y="5193792"/>
            <a:ext cx="10195560" cy="32004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ctr"/>
            <a:r>
              <a:rPr sz="1600" b="1" i="0">
                <a:solidFill>
                  <a:srgbClr val="182F4B"/>
                </a:solidFill>
                <a:latin typeface="Aptos"/>
              </a:rPr>
              <a:t>Key lesson: a route that looks shorter is not enough — add every edge weight to compare total costs.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6B6BB1B-8DF3-9036-A785-2281CE918DDE}"/>
              </a:ext>
            </a:extLst>
          </p:cNvPr>
          <p:cNvSpPr txBox="1"/>
          <p:nvPr/>
        </p:nvSpPr>
        <p:spPr>
          <a:xfrm>
            <a:off x="10334244" y="66717"/>
            <a:ext cx="182575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Made with </a:t>
            </a:r>
            <a:r>
              <a:rPr lang="en-US" sz="1600" dirty="0" err="1"/>
              <a:t>ChatGpt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56032"/>
            <a:ext cx="9875520" cy="25603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000" b="1" i="0">
                <a:solidFill>
                  <a:srgbClr val="269996"/>
                </a:solidFill>
                <a:latin typeface="Aptos"/>
              </a:rPr>
              <a:t>04 · PROBLEM VARIANTS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566928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2700" b="1" i="0">
                <a:solidFill>
                  <a:srgbClr val="182F4B"/>
                </a:solidFill>
                <a:latin typeface="Aptos"/>
              </a:rPr>
              <a:t>Three common types of TSP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143000"/>
            <a:ext cx="685800" cy="41148"/>
          </a:xfrm>
          <a:prstGeom prst="rect">
            <a:avLst/>
          </a:prstGeom>
          <a:solidFill>
            <a:srgbClr val="2699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247120" y="6510528"/>
            <a:ext cx="411480" cy="1828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r"/>
            <a:r>
              <a:rPr sz="900" b="1" i="0">
                <a:solidFill>
                  <a:srgbClr val="5E707E"/>
                </a:solidFill>
                <a:latin typeface="Aptos"/>
              </a:rPr>
              <a:t>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691640"/>
            <a:ext cx="3337560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41832" y="1965960"/>
            <a:ext cx="566928" cy="566928"/>
          </a:xfrm>
          <a:prstGeom prst="ellipse">
            <a:avLst/>
          </a:prstGeom>
          <a:solidFill>
            <a:srgbClr val="3670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41832" y="2075688"/>
            <a:ext cx="566928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Aptos"/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2743200"/>
            <a:ext cx="2788920" cy="54864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600" b="1" i="0">
                <a:solidFill>
                  <a:srgbClr val="182F4B"/>
                </a:solidFill>
                <a:latin typeface="Aptos"/>
              </a:rPr>
              <a:t>SYMMETRIC TSP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3401568"/>
            <a:ext cx="2788920" cy="82296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500" b="0" i="0">
                <a:solidFill>
                  <a:srgbClr val="233442"/>
                </a:solidFill>
                <a:latin typeface="Aptos"/>
              </a:rPr>
              <a:t>Distance A → B equals B → 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41832" y="4343400"/>
            <a:ext cx="502920" cy="36576"/>
          </a:xfrm>
          <a:prstGeom prst="rect">
            <a:avLst/>
          </a:prstGeom>
          <a:solidFill>
            <a:srgbClr val="3670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41832" y="4572000"/>
            <a:ext cx="2788920" cy="91440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300" b="0" i="0">
                <a:solidFill>
                  <a:srgbClr val="5E707E"/>
                </a:solidFill>
                <a:latin typeface="Aptos"/>
              </a:rPr>
              <a:t>Example: road distance between two cities, when direction does not matter.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1691640"/>
            <a:ext cx="3337560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4507992" y="1965960"/>
            <a:ext cx="566928" cy="566928"/>
          </a:xfrm>
          <a:prstGeom prst="ellipse">
            <a:avLst/>
          </a:prstGeom>
          <a:solidFill>
            <a:srgbClr val="2699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07992" y="2075688"/>
            <a:ext cx="566928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Aptos"/>
              </a:rPr>
              <a:t>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07992" y="2743200"/>
            <a:ext cx="2788920" cy="54864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600" b="1" i="0">
                <a:solidFill>
                  <a:srgbClr val="182F4B"/>
                </a:solidFill>
                <a:latin typeface="Aptos"/>
              </a:rPr>
              <a:t>ASYMMETRIC TSP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7992" y="3401568"/>
            <a:ext cx="2788920" cy="82296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500" b="0" i="0">
                <a:solidFill>
                  <a:srgbClr val="233442"/>
                </a:solidFill>
                <a:latin typeface="Aptos"/>
              </a:rPr>
              <a:t>Cost A → B may differ from B → 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07992" y="4343400"/>
            <a:ext cx="502920" cy="36576"/>
          </a:xfrm>
          <a:prstGeom prst="rect">
            <a:avLst/>
          </a:prstGeom>
          <a:solidFill>
            <a:srgbClr val="2699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07992" y="4572000"/>
            <a:ext cx="2788920" cy="91440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300" b="0" i="0">
                <a:solidFill>
                  <a:srgbClr val="5E707E"/>
                </a:solidFill>
                <a:latin typeface="Aptos"/>
              </a:rPr>
              <a:t>Example: one-way streets, different flight fares, or direction-dependent travel time.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18120" y="1691640"/>
            <a:ext cx="3337560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8074152" y="1965960"/>
            <a:ext cx="566928" cy="566928"/>
          </a:xfrm>
          <a:prstGeom prst="ellipse">
            <a:avLst/>
          </a:prstGeom>
          <a:solidFill>
            <a:srgbClr val="E882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074152" y="2075688"/>
            <a:ext cx="566928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Aptos"/>
              </a:rPr>
              <a:t>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74152" y="2743200"/>
            <a:ext cx="2788920" cy="54864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600" b="1" i="0">
                <a:solidFill>
                  <a:srgbClr val="182F4B"/>
                </a:solidFill>
                <a:latin typeface="Aptos"/>
              </a:rPr>
              <a:t>METRIC TSP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74152" y="3401568"/>
            <a:ext cx="2788920" cy="82296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500" b="0" i="0">
                <a:solidFill>
                  <a:srgbClr val="233442"/>
                </a:solidFill>
                <a:latin typeface="Aptos"/>
              </a:rPr>
              <a:t>Distances obey triangle inequality: d(A,C) ≤ d(A,B)+d(B,C).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74152" y="4343400"/>
            <a:ext cx="502920" cy="36576"/>
          </a:xfrm>
          <a:prstGeom prst="rect">
            <a:avLst/>
          </a:prstGeom>
          <a:solidFill>
            <a:srgbClr val="E882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074152" y="4572000"/>
            <a:ext cx="2788920" cy="91440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300" b="0" i="0">
                <a:solidFill>
                  <a:srgbClr val="5E707E"/>
                </a:solidFill>
                <a:latin typeface="Aptos"/>
              </a:rPr>
              <a:t>Example: straight-line distance or shortest-path distances in a road network.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053328"/>
            <a:ext cx="10607040" cy="22860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100" b="0" i="1">
                <a:solidFill>
                  <a:srgbClr val="5E707E"/>
                </a:solidFill>
                <a:latin typeface="Aptos"/>
              </a:rPr>
              <a:t>Metric TSP is a special case defined by a distance property; it may be symmetric, but symmetry alone does not make a TSP metric.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FD0DF93-E847-E138-6A11-A3EDD4EB953C}"/>
              </a:ext>
            </a:extLst>
          </p:cNvPr>
          <p:cNvSpPr txBox="1"/>
          <p:nvPr/>
        </p:nvSpPr>
        <p:spPr>
          <a:xfrm>
            <a:off x="10337482" y="68353"/>
            <a:ext cx="181927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Made with </a:t>
            </a:r>
            <a:r>
              <a:rPr lang="en-US" sz="1600" dirty="0" err="1"/>
              <a:t>ChatGpt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56032"/>
            <a:ext cx="9875520" cy="25603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000" b="1" i="0">
                <a:solidFill>
                  <a:srgbClr val="269996"/>
                </a:solidFill>
                <a:latin typeface="Aptos"/>
              </a:rPr>
              <a:t>05 · SOLUTION STRATEGIES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566928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2700" b="1" i="0">
                <a:solidFill>
                  <a:srgbClr val="182F4B"/>
                </a:solidFill>
                <a:latin typeface="Aptos"/>
              </a:rPr>
              <a:t>Algorithms: exact answers vs. fast approximations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143000"/>
            <a:ext cx="685800" cy="41148"/>
          </a:xfrm>
          <a:prstGeom prst="rect">
            <a:avLst/>
          </a:prstGeom>
          <a:solidFill>
            <a:srgbClr val="2699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247120" y="6510528"/>
            <a:ext cx="411480" cy="1828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r"/>
            <a:r>
              <a:rPr sz="900" b="1" i="0">
                <a:solidFill>
                  <a:srgbClr val="5E707E"/>
                </a:solidFill>
                <a:latin typeface="Aptos"/>
              </a:rPr>
              <a:t>06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1828800" cy="566928"/>
          </a:xfrm>
          <a:prstGeom prst="roundRect">
            <a:avLst/>
          </a:prstGeom>
          <a:solidFill>
            <a:srgbClr val="182F4B"/>
          </a:solidFill>
          <a:ln w="12700">
            <a:solidFill>
              <a:srgbClr val="182F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6384" y="1801368"/>
            <a:ext cx="171907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ptos"/>
              </a:rPr>
              <a:t>Approach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33472" y="1691640"/>
            <a:ext cx="2743200" cy="566928"/>
          </a:xfrm>
          <a:prstGeom prst="roundRect">
            <a:avLst/>
          </a:prstGeom>
          <a:solidFill>
            <a:srgbClr val="182F4B"/>
          </a:solidFill>
          <a:ln w="12700">
            <a:solidFill>
              <a:srgbClr val="182F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688336" y="1801368"/>
            <a:ext cx="263347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ptos"/>
              </a:rPr>
              <a:t>Core idea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49824" y="1691640"/>
            <a:ext cx="2971800" cy="566928"/>
          </a:xfrm>
          <a:prstGeom prst="roundRect">
            <a:avLst/>
          </a:prstGeom>
          <a:solidFill>
            <a:srgbClr val="182F4B"/>
          </a:solidFill>
          <a:ln w="12700">
            <a:solidFill>
              <a:srgbClr val="182F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504688" y="1801368"/>
            <a:ext cx="286207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ptos"/>
              </a:rPr>
              <a:t>Typical time complexity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94776" y="1691640"/>
            <a:ext cx="2743200" cy="566928"/>
          </a:xfrm>
          <a:prstGeom prst="roundRect">
            <a:avLst/>
          </a:prstGeom>
          <a:solidFill>
            <a:srgbClr val="182F4B"/>
          </a:solidFill>
          <a:ln w="12700">
            <a:solidFill>
              <a:srgbClr val="182F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549640" y="1801368"/>
            <a:ext cx="263347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ptos"/>
              </a:rPr>
              <a:t>Guarantee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368296"/>
            <a:ext cx="1828800" cy="713232"/>
          </a:xfrm>
          <a:prstGeom prst="roundRect">
            <a:avLst/>
          </a:prstGeom>
          <a:solidFill>
            <a:srgbClr val="EBF5F8"/>
          </a:solidFill>
          <a:ln w="12700">
            <a:solidFill>
              <a:srgbClr val="DA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4672" y="2441448"/>
            <a:ext cx="1682496" cy="56692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269996"/>
                </a:solidFill>
                <a:latin typeface="Aptos"/>
              </a:rPr>
              <a:t>Brute force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633472" y="2368296"/>
            <a:ext cx="2743200" cy="713232"/>
          </a:xfrm>
          <a:prstGeom prst="roundRect">
            <a:avLst/>
          </a:prstGeom>
          <a:solidFill>
            <a:srgbClr val="EBF5F8"/>
          </a:solidFill>
          <a:ln w="12700">
            <a:solidFill>
              <a:srgbClr val="DA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706624" y="2441448"/>
            <a:ext cx="2596896" cy="56692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1200" b="0" i="0">
                <a:solidFill>
                  <a:srgbClr val="233442"/>
                </a:solidFill>
                <a:latin typeface="Aptos"/>
              </a:rPr>
              <a:t>Try every possible tour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49824" y="2368296"/>
            <a:ext cx="2971800" cy="713232"/>
          </a:xfrm>
          <a:prstGeom prst="roundRect">
            <a:avLst/>
          </a:prstGeom>
          <a:solidFill>
            <a:srgbClr val="EBF5F8"/>
          </a:solidFill>
          <a:ln w="12700">
            <a:solidFill>
              <a:srgbClr val="DA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522976" y="2441448"/>
            <a:ext cx="2825496" cy="56692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1200" b="0" i="0">
                <a:solidFill>
                  <a:srgbClr val="233442"/>
                </a:solidFill>
                <a:latin typeface="Aptos"/>
              </a:rPr>
              <a:t>O(n!) tours (fixed start)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94776" y="2368296"/>
            <a:ext cx="2743200" cy="713232"/>
          </a:xfrm>
          <a:prstGeom prst="roundRect">
            <a:avLst/>
          </a:prstGeom>
          <a:solidFill>
            <a:srgbClr val="EBF5F8"/>
          </a:solidFill>
          <a:ln w="12700">
            <a:solidFill>
              <a:srgbClr val="DA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567928" y="2441448"/>
            <a:ext cx="2596896" cy="56692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1200" b="0" i="0">
                <a:solidFill>
                  <a:srgbClr val="233442"/>
                </a:solidFill>
                <a:latin typeface="Aptos"/>
              </a:rPr>
              <a:t>Exact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3172968"/>
            <a:ext cx="182880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04672" y="3246120"/>
            <a:ext cx="1682496" cy="56692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269996"/>
                </a:solidFill>
                <a:latin typeface="Aptos"/>
              </a:rPr>
              <a:t>Held–Karp DP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33472" y="3172968"/>
            <a:ext cx="274320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706624" y="3246120"/>
            <a:ext cx="2596896" cy="56692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1200" b="0" i="0">
                <a:solidFill>
                  <a:srgbClr val="233442"/>
                </a:solidFill>
                <a:latin typeface="Aptos"/>
              </a:rPr>
              <a:t>Reuse solved subsets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49824" y="3172968"/>
            <a:ext cx="297180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522976" y="3246120"/>
            <a:ext cx="2825496" cy="56692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1200" b="0" i="0">
                <a:solidFill>
                  <a:srgbClr val="233442"/>
                </a:solidFill>
                <a:latin typeface="Aptos"/>
              </a:rPr>
              <a:t>O(n² · 2ⁿ) time; O(n · 2ⁿ) space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94776" y="3172968"/>
            <a:ext cx="274320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567928" y="3246120"/>
            <a:ext cx="2596896" cy="56692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1200" b="0" i="0">
                <a:solidFill>
                  <a:srgbClr val="233442"/>
                </a:solidFill>
                <a:latin typeface="Aptos"/>
              </a:rPr>
              <a:t>Exact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3977639"/>
            <a:ext cx="1828800" cy="713232"/>
          </a:xfrm>
          <a:prstGeom prst="roundRect">
            <a:avLst/>
          </a:prstGeom>
          <a:solidFill>
            <a:srgbClr val="EBF5F8"/>
          </a:solidFill>
          <a:ln w="12700">
            <a:solidFill>
              <a:srgbClr val="DA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04672" y="4050791"/>
            <a:ext cx="1682496" cy="56692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269996"/>
                </a:solidFill>
                <a:latin typeface="Aptos"/>
              </a:rPr>
              <a:t>Branch &amp; Bound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633472" y="3977639"/>
            <a:ext cx="2743200" cy="713232"/>
          </a:xfrm>
          <a:prstGeom prst="roundRect">
            <a:avLst/>
          </a:prstGeom>
          <a:solidFill>
            <a:srgbClr val="EBF5F8"/>
          </a:solidFill>
          <a:ln w="12700">
            <a:solidFill>
              <a:srgbClr val="DA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706624" y="4050791"/>
            <a:ext cx="2596896" cy="56692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1200" b="0" i="0">
                <a:solidFill>
                  <a:srgbClr val="233442"/>
                </a:solidFill>
                <a:latin typeface="Aptos"/>
              </a:rPr>
              <a:t>Prune partial tours that cannot win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49824" y="3977639"/>
            <a:ext cx="2971800" cy="713232"/>
          </a:xfrm>
          <a:prstGeom prst="roundRect">
            <a:avLst/>
          </a:prstGeom>
          <a:solidFill>
            <a:srgbClr val="EBF5F8"/>
          </a:solidFill>
          <a:ln w="12700">
            <a:solidFill>
              <a:srgbClr val="DA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522976" y="4050791"/>
            <a:ext cx="2825496" cy="56692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1200" b="0" i="0">
                <a:solidFill>
                  <a:srgbClr val="233442"/>
                </a:solidFill>
                <a:latin typeface="Aptos"/>
              </a:rPr>
              <a:t>Worst case O(n!)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94776" y="3977639"/>
            <a:ext cx="2743200" cy="713232"/>
          </a:xfrm>
          <a:prstGeom prst="roundRect">
            <a:avLst/>
          </a:prstGeom>
          <a:solidFill>
            <a:srgbClr val="EBF5F8"/>
          </a:solidFill>
          <a:ln w="12700">
            <a:solidFill>
              <a:srgbClr val="DA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567928" y="4050791"/>
            <a:ext cx="2596896" cy="56692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1200" b="0" i="0">
                <a:solidFill>
                  <a:srgbClr val="233442"/>
                </a:solidFill>
                <a:latin typeface="Aptos"/>
              </a:rPr>
              <a:t>Exact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31520" y="4782312"/>
            <a:ext cx="182880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04672" y="4855464"/>
            <a:ext cx="1682496" cy="56692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269996"/>
                </a:solidFill>
                <a:latin typeface="Aptos"/>
              </a:rPr>
              <a:t>Approximation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633472" y="4782312"/>
            <a:ext cx="274320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2706624" y="4855464"/>
            <a:ext cx="2596896" cy="56692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1200" b="0" i="0">
                <a:solidFill>
                  <a:srgbClr val="233442"/>
                </a:solidFill>
                <a:latin typeface="Aptos"/>
              </a:rPr>
              <a:t>Use structure to find a near-best tour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49824" y="4782312"/>
            <a:ext cx="297180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5522976" y="4855464"/>
            <a:ext cx="2825496" cy="56692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1200" b="0" i="0">
                <a:solidFill>
                  <a:srgbClr val="233442"/>
                </a:solidFill>
                <a:latin typeface="Aptos"/>
              </a:rPr>
              <a:t>Often polynomial; varies by method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494776" y="4782312"/>
            <a:ext cx="274320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567928" y="4855464"/>
            <a:ext cx="2596896" cy="56692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1200" b="0" i="0">
                <a:solidFill>
                  <a:srgbClr val="233442"/>
                </a:solidFill>
                <a:latin typeface="Aptos"/>
              </a:rPr>
              <a:t>Bounded guarantee for supported variants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77240" y="5715000"/>
            <a:ext cx="10607040" cy="502920"/>
          </a:xfrm>
          <a:prstGeom prst="roundRect">
            <a:avLst/>
          </a:prstGeom>
          <a:solidFill>
            <a:srgbClr val="D5F2EB"/>
          </a:solidFill>
          <a:ln w="12700">
            <a:solidFill>
              <a:srgbClr val="D5F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914400" y="5815584"/>
            <a:ext cx="10332720" cy="27432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ctr"/>
            <a:r>
              <a:rPr sz="1200" b="1" i="0">
                <a:solidFill>
                  <a:srgbClr val="182F4B"/>
                </a:solidFill>
                <a:latin typeface="Aptos"/>
              </a:rPr>
              <a:t>Important: classic metric TSP has a 1.5-approximation; general TSP has no constant-factor guarantee unless P = NP.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129932F-A3BB-C5B6-925D-6E26981F8C40}"/>
              </a:ext>
            </a:extLst>
          </p:cNvPr>
          <p:cNvSpPr txBox="1"/>
          <p:nvPr/>
        </p:nvSpPr>
        <p:spPr>
          <a:xfrm>
            <a:off x="10258425" y="17145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Made with </a:t>
            </a:r>
            <a:r>
              <a:rPr lang="en-US" sz="1600" dirty="0" err="1"/>
              <a:t>ChatGpt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56032"/>
            <a:ext cx="9875520" cy="25603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000" b="1" i="0">
                <a:solidFill>
                  <a:srgbClr val="269996"/>
                </a:solidFill>
                <a:latin typeface="Aptos"/>
              </a:rPr>
              <a:t>06 · REUSE SUBPROBLEMS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566928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2700" b="1" i="0">
                <a:solidFill>
                  <a:srgbClr val="182F4B"/>
                </a:solidFill>
                <a:latin typeface="Aptos"/>
              </a:rPr>
              <a:t>Dynamic programming: Held–Karp in one picture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143000"/>
            <a:ext cx="685800" cy="41148"/>
          </a:xfrm>
          <a:prstGeom prst="rect">
            <a:avLst/>
          </a:prstGeom>
          <a:solidFill>
            <a:srgbClr val="2699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247120" y="6510528"/>
            <a:ext cx="411480" cy="1828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r"/>
            <a:r>
              <a:rPr sz="900" b="1" i="0">
                <a:solidFill>
                  <a:srgbClr val="5E707E"/>
                </a:solidFill>
                <a:latin typeface="Aptos"/>
              </a:rPr>
              <a:t>07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554480"/>
            <a:ext cx="370332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1828800"/>
            <a:ext cx="3154680" cy="4114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900" b="1" i="0">
                <a:solidFill>
                  <a:srgbClr val="182F4B"/>
                </a:solidFill>
                <a:latin typeface="Aptos"/>
              </a:rPr>
              <a:t>State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331720"/>
            <a:ext cx="3063240" cy="105156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500" b="0" i="0">
                <a:solidFill>
                  <a:srgbClr val="233442"/>
                </a:solidFill>
                <a:latin typeface="Aptos"/>
              </a:rPr>
              <a:t>DP[S, j] = minimum cost to start at A, visit every city in set S, and finish at city j.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" y="3703320"/>
            <a:ext cx="3063240" cy="841248"/>
          </a:xfrm>
          <a:prstGeom prst="roundRect">
            <a:avLst/>
          </a:prstGeom>
          <a:solidFill>
            <a:srgbClr val="EBF5F8"/>
          </a:solidFill>
          <a:ln w="12700">
            <a:solidFill>
              <a:srgbClr val="EBF5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43000" y="3877056"/>
            <a:ext cx="269748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 i="0">
                <a:solidFill>
                  <a:srgbClr val="269996"/>
                </a:solidFill>
                <a:latin typeface="Aptos"/>
              </a:rPr>
              <a:t>DP[S, j] = minᵢ DP[S − {j}, i] + d(i,j)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892040"/>
            <a:ext cx="3017520" cy="68580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300" b="0" i="0">
                <a:solidFill>
                  <a:srgbClr val="5E707E"/>
                </a:solidFill>
                <a:latin typeface="Aptos"/>
              </a:rPr>
              <a:t>S is a subset of cities; j is the last city visited.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54880" y="1554480"/>
            <a:ext cx="6720840" cy="4526280"/>
          </a:xfrm>
          <a:prstGeom prst="roundRect">
            <a:avLst/>
          </a:prstGeom>
          <a:solidFill>
            <a:srgbClr val="EBF5F8"/>
          </a:solidFill>
          <a:ln w="12700">
            <a:solidFill>
              <a:srgbClr val="EBF5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74920" y="1828800"/>
            <a:ext cx="6080760" cy="36576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900" b="1" i="0">
                <a:solidFill>
                  <a:srgbClr val="182F4B"/>
                </a:solidFill>
                <a:latin typeface="Aptos"/>
              </a:rPr>
              <a:t>How the computation builds up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66360" y="2606040"/>
            <a:ext cx="132588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202936" y="2715768"/>
            <a:ext cx="1252728" cy="237744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ctr"/>
            <a:r>
              <a:rPr sz="1200" b="1" i="0">
                <a:solidFill>
                  <a:srgbClr val="269996"/>
                </a:solidFill>
                <a:latin typeface="Aptos"/>
              </a:rPr>
              <a:t>1 city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02936" y="3017520"/>
            <a:ext cx="1252728" cy="1828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ctr"/>
            <a:r>
              <a:rPr sz="900" b="0" i="0">
                <a:solidFill>
                  <a:srgbClr val="5E707E"/>
                </a:solidFill>
                <a:latin typeface="Aptos"/>
              </a:rPr>
              <a:t>Base cases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03720" y="2606040"/>
            <a:ext cx="150876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940296" y="2715768"/>
            <a:ext cx="1435607" cy="237744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ctr"/>
            <a:r>
              <a:rPr sz="1200" b="1" i="0">
                <a:solidFill>
                  <a:srgbClr val="269996"/>
                </a:solidFill>
                <a:latin typeface="Aptos"/>
              </a:rPr>
              <a:t>2 cities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0296" y="3017520"/>
            <a:ext cx="1435607" cy="1828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ctr"/>
            <a:r>
              <a:rPr sz="900" b="0" i="0">
                <a:solidFill>
                  <a:srgbClr val="5E707E"/>
                </a:solidFill>
                <a:latin typeface="Aptos"/>
              </a:rPr>
              <a:t>Extend paths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23960" y="2606040"/>
            <a:ext cx="150876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860536" y="2715768"/>
            <a:ext cx="1435607" cy="237744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ctr"/>
            <a:r>
              <a:rPr sz="1200" b="1" i="0">
                <a:solidFill>
                  <a:srgbClr val="269996"/>
                </a:solidFill>
                <a:latin typeface="Aptos"/>
              </a:rPr>
              <a:t>Larger sets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0536" y="3017520"/>
            <a:ext cx="1435607" cy="1828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ctr"/>
            <a:r>
              <a:rPr sz="900" b="0" i="0">
                <a:solidFill>
                  <a:srgbClr val="5E707E"/>
                </a:solidFill>
                <a:latin typeface="Aptos"/>
              </a:rPr>
              <a:t>Reuse results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469880" y="2606040"/>
            <a:ext cx="68580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506455" y="2715768"/>
            <a:ext cx="612648" cy="237744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ctr"/>
            <a:r>
              <a:rPr sz="1200" b="1" i="0">
                <a:solidFill>
                  <a:srgbClr val="269996"/>
                </a:solidFill>
                <a:latin typeface="Aptos"/>
              </a:rPr>
              <a:t>…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492240" y="2980944"/>
            <a:ext cx="365760" cy="0"/>
          </a:xfrm>
          <a:prstGeom prst="line">
            <a:avLst/>
          </a:prstGeom>
          <a:ln w="25400">
            <a:solidFill>
              <a:srgbClr val="2699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412480" y="2980944"/>
            <a:ext cx="365760" cy="0"/>
          </a:xfrm>
          <a:prstGeom prst="line">
            <a:avLst/>
          </a:prstGeom>
          <a:ln w="25400">
            <a:solidFill>
              <a:srgbClr val="2699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0332720" y="2980944"/>
            <a:ext cx="91440" cy="0"/>
          </a:xfrm>
          <a:prstGeom prst="line">
            <a:avLst/>
          </a:prstGeom>
          <a:ln w="25400">
            <a:solidFill>
              <a:srgbClr val="2699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5212080" y="3977639"/>
            <a:ext cx="56692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440680" y="4187952"/>
            <a:ext cx="5212080" cy="50292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 i="0">
                <a:solidFill>
                  <a:srgbClr val="182F4B"/>
                </a:solidFill>
                <a:latin typeface="Aptos"/>
              </a:rPr>
              <a:t>Finally: add the cost to return to A, then choose the cheapest ending city.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66360" y="5349240"/>
            <a:ext cx="5852160" cy="4114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ctr"/>
            <a:r>
              <a:rPr sz="1500" b="1" i="0">
                <a:solidFill>
                  <a:srgbClr val="269996"/>
                </a:solidFill>
                <a:latin typeface="Aptos"/>
              </a:rPr>
              <a:t>Time: O(n² · 2ⁿ)     |     Space: O(n · 2ⁿ)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8F555F8-D64B-315B-A7BB-74FBB93D55CC}"/>
              </a:ext>
            </a:extLst>
          </p:cNvPr>
          <p:cNvSpPr txBox="1"/>
          <p:nvPr/>
        </p:nvSpPr>
        <p:spPr>
          <a:xfrm>
            <a:off x="10332720" y="31666"/>
            <a:ext cx="18288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Made with </a:t>
            </a:r>
            <a:r>
              <a:rPr lang="en-US" sz="1600" dirty="0" err="1"/>
              <a:t>ChatGpt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56032"/>
            <a:ext cx="9875520" cy="25603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000" b="1" i="0">
                <a:solidFill>
                  <a:srgbClr val="269996"/>
                </a:solidFill>
                <a:latin typeface="Aptos"/>
              </a:rPr>
              <a:t>07 · REAL-WORLD APPLICATIONS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566928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2700" b="1" i="0">
                <a:solidFill>
                  <a:srgbClr val="182F4B"/>
                </a:solidFill>
                <a:latin typeface="Aptos"/>
              </a:rPr>
              <a:t>Where is TSP useful?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143000"/>
            <a:ext cx="685800" cy="41148"/>
          </a:xfrm>
          <a:prstGeom prst="rect">
            <a:avLst/>
          </a:prstGeom>
          <a:solidFill>
            <a:srgbClr val="2699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247120" y="6510528"/>
            <a:ext cx="411480" cy="1828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r"/>
            <a:r>
              <a:rPr sz="900" b="1" i="0">
                <a:solidFill>
                  <a:srgbClr val="5E707E"/>
                </a:solidFill>
                <a:latin typeface="Aptos"/>
              </a:rPr>
              <a:t>08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24612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914400" y="1828800"/>
            <a:ext cx="502920" cy="310896"/>
          </a:xfrm>
          <a:prstGeom prst="roundRect">
            <a:avLst/>
          </a:prstGeom>
          <a:solidFill>
            <a:srgbClr val="D5F2EB"/>
          </a:solidFill>
          <a:ln w="12700">
            <a:solidFill>
              <a:srgbClr val="D5F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41832" y="1851660"/>
            <a:ext cx="448056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269996"/>
                </a:solidFill>
                <a:latin typeface="Apto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240280"/>
            <a:ext cx="2834640" cy="292608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500" b="1" i="0">
                <a:solidFill>
                  <a:srgbClr val="182F4B"/>
                </a:solidFill>
                <a:latin typeface="Aptos"/>
              </a:rPr>
              <a:t>Delivery &amp; logistics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606040"/>
            <a:ext cx="2834640" cy="50292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200" b="0" i="0">
                <a:solidFill>
                  <a:srgbClr val="5E707E"/>
                </a:solidFill>
                <a:latin typeface="Aptos"/>
              </a:rPr>
              <a:t>Order stops to reduce total driving distance.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6280" y="1645920"/>
            <a:ext cx="324612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709160" y="1828800"/>
            <a:ext cx="502920" cy="310896"/>
          </a:xfrm>
          <a:prstGeom prst="roundRect">
            <a:avLst/>
          </a:prstGeom>
          <a:solidFill>
            <a:srgbClr val="D5F2EB"/>
          </a:solidFill>
          <a:ln w="12700">
            <a:solidFill>
              <a:srgbClr val="D5F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736592" y="1851660"/>
            <a:ext cx="448056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269996"/>
                </a:solidFill>
                <a:latin typeface="Apto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60" y="2240280"/>
            <a:ext cx="2834640" cy="292608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500" b="1" i="0">
                <a:solidFill>
                  <a:srgbClr val="182F4B"/>
                </a:solidFill>
                <a:latin typeface="Aptos"/>
              </a:rPr>
              <a:t>Vehicle routing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9160" y="2606040"/>
            <a:ext cx="2834640" cy="50292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200" b="0" i="0">
                <a:solidFill>
                  <a:srgbClr val="5E707E"/>
                </a:solidFill>
                <a:latin typeface="Aptos"/>
              </a:rPr>
              <a:t>Plan routes for fleets; real systems add capacity and time windows.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1040" y="1645920"/>
            <a:ext cx="324612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503919" y="1828800"/>
            <a:ext cx="502920" cy="310896"/>
          </a:xfrm>
          <a:prstGeom prst="roundRect">
            <a:avLst/>
          </a:prstGeom>
          <a:solidFill>
            <a:srgbClr val="D5F2EB"/>
          </a:solidFill>
          <a:ln w="12700">
            <a:solidFill>
              <a:srgbClr val="D5F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531351" y="1851660"/>
            <a:ext cx="448056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269996"/>
                </a:solidFill>
                <a:latin typeface="Aptos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19" y="2240280"/>
            <a:ext cx="2834640" cy="292608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500" b="1" i="0">
                <a:solidFill>
                  <a:srgbClr val="182F4B"/>
                </a:solidFill>
                <a:latin typeface="Aptos"/>
              </a:rPr>
              <a:t>Manufacturing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2606040"/>
            <a:ext cx="2834640" cy="50292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200" b="0" i="0">
                <a:solidFill>
                  <a:srgbClr val="5E707E"/>
                </a:solidFill>
                <a:latin typeface="Aptos"/>
              </a:rPr>
              <a:t>Choose efficient tool or machine movement sequences.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3657600"/>
            <a:ext cx="324612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914400" y="3840480"/>
            <a:ext cx="502920" cy="310896"/>
          </a:xfrm>
          <a:prstGeom prst="roundRect">
            <a:avLst/>
          </a:prstGeom>
          <a:solidFill>
            <a:srgbClr val="D5F2EB"/>
          </a:solidFill>
          <a:ln w="12700">
            <a:solidFill>
              <a:srgbClr val="D5F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41832" y="3863340"/>
            <a:ext cx="448056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269996"/>
                </a:solidFill>
                <a:latin typeface="Aptos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251960"/>
            <a:ext cx="2834640" cy="292608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500" b="1" i="0">
                <a:solidFill>
                  <a:srgbClr val="182F4B"/>
                </a:solidFill>
                <a:latin typeface="Aptos"/>
              </a:rPr>
              <a:t>Circuit-board drilling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4617720"/>
            <a:ext cx="2834640" cy="50292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200" b="0" i="0">
                <a:solidFill>
                  <a:srgbClr val="5E707E"/>
                </a:solidFill>
                <a:latin typeface="Aptos"/>
              </a:rPr>
              <a:t>Minimize movement between drilling locations on a board.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26280" y="3657600"/>
            <a:ext cx="324612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4709160" y="3840480"/>
            <a:ext cx="502920" cy="310896"/>
          </a:xfrm>
          <a:prstGeom prst="roundRect">
            <a:avLst/>
          </a:prstGeom>
          <a:solidFill>
            <a:srgbClr val="D5F2EB"/>
          </a:solidFill>
          <a:ln w="12700">
            <a:solidFill>
              <a:srgbClr val="D5F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736592" y="3863340"/>
            <a:ext cx="448056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269996"/>
                </a:solidFill>
                <a:latin typeface="Aptos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09160" y="4251960"/>
            <a:ext cx="2834640" cy="292608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500" b="1" i="0">
                <a:solidFill>
                  <a:srgbClr val="182F4B"/>
                </a:solidFill>
                <a:latin typeface="Aptos"/>
              </a:rPr>
              <a:t>Robotics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09160" y="4617720"/>
            <a:ext cx="2834640" cy="50292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200" b="0" i="0">
                <a:solidFill>
                  <a:srgbClr val="5E707E"/>
                </a:solidFill>
                <a:latin typeface="Aptos"/>
              </a:rPr>
              <a:t>Plan a sequence of inspection or pick-up points.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321040" y="3657600"/>
            <a:ext cx="324612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8503919" y="3840480"/>
            <a:ext cx="502920" cy="310896"/>
          </a:xfrm>
          <a:prstGeom prst="roundRect">
            <a:avLst/>
          </a:prstGeom>
          <a:solidFill>
            <a:srgbClr val="D5F2EB"/>
          </a:solidFill>
          <a:ln w="12700">
            <a:solidFill>
              <a:srgbClr val="D5F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531351" y="3863340"/>
            <a:ext cx="448056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269996"/>
                </a:solidFill>
                <a:latin typeface="Aptos"/>
              </a:rP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19" y="4251960"/>
            <a:ext cx="2834640" cy="292608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500" b="1" i="0">
                <a:solidFill>
                  <a:srgbClr val="182F4B"/>
                </a:solidFill>
                <a:latin typeface="Aptos"/>
              </a:rPr>
              <a:t>Route planning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03919" y="4617720"/>
            <a:ext cx="2834640" cy="50292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200" b="0" i="0">
                <a:solidFill>
                  <a:srgbClr val="5E707E"/>
                </a:solidFill>
                <a:latin typeface="Aptos"/>
              </a:rPr>
              <a:t>Build a low-cost tour through multiple destinations.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5897880"/>
            <a:ext cx="10515600" cy="32004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ctr"/>
            <a:r>
              <a:rPr sz="1300" b="1" i="0">
                <a:solidFill>
                  <a:srgbClr val="269996"/>
                </a:solidFill>
                <a:latin typeface="Aptos"/>
              </a:rPr>
              <a:t>Real systems often use TSP as a building block inside larger scheduling and routing models.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5CCAD69-D6C4-9885-D720-86DA601784E2}"/>
              </a:ext>
            </a:extLst>
          </p:cNvPr>
          <p:cNvSpPr txBox="1"/>
          <p:nvPr/>
        </p:nvSpPr>
        <p:spPr>
          <a:xfrm>
            <a:off x="10419588" y="109501"/>
            <a:ext cx="200025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Made with </a:t>
            </a:r>
            <a:r>
              <a:rPr lang="en-US" sz="1600" dirty="0" err="1"/>
              <a:t>ChatGpt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56032"/>
            <a:ext cx="9875520" cy="25603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000" b="1" i="0">
                <a:solidFill>
                  <a:srgbClr val="269996"/>
                </a:solidFill>
                <a:latin typeface="Aptos"/>
              </a:rPr>
              <a:t>08 · BENEFITS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566928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2700" b="1" i="0">
                <a:solidFill>
                  <a:srgbClr val="182F4B"/>
                </a:solidFill>
                <a:latin typeface="Aptos"/>
              </a:rPr>
              <a:t>Advantages: why optimize the tour?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143000"/>
            <a:ext cx="685800" cy="41148"/>
          </a:xfrm>
          <a:prstGeom prst="rect">
            <a:avLst/>
          </a:prstGeom>
          <a:solidFill>
            <a:srgbClr val="2699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247120" y="6510528"/>
            <a:ext cx="411480" cy="1828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r"/>
            <a:r>
              <a:rPr sz="900" b="1" i="0">
                <a:solidFill>
                  <a:srgbClr val="5E707E"/>
                </a:solidFill>
                <a:latin typeface="Aptos"/>
              </a:rPr>
              <a:t>09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4572000" cy="4389120"/>
          </a:xfrm>
          <a:prstGeom prst="roundRect">
            <a:avLst/>
          </a:prstGeom>
          <a:solidFill>
            <a:srgbClr val="EBF5F8"/>
          </a:solidFill>
          <a:ln w="12700">
            <a:solidFill>
              <a:srgbClr val="EBF5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51560" y="1920240"/>
            <a:ext cx="3931920" cy="36576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ctr"/>
            <a:r>
              <a:rPr sz="1900" b="1" i="0">
                <a:solidFill>
                  <a:srgbClr val="182F4B"/>
                </a:solidFill>
                <a:latin typeface="Aptos"/>
              </a:rPr>
              <a:t>Same stops, different cost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1417320" y="2560320"/>
            <a:ext cx="1051560" cy="228600"/>
          </a:xfrm>
          <a:prstGeom prst="line">
            <a:avLst/>
          </a:prstGeom>
          <a:ln w="31750">
            <a:solidFill>
              <a:srgbClr val="E882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468880" y="2560320"/>
            <a:ext cx="1417320" cy="320040"/>
          </a:xfrm>
          <a:prstGeom prst="line">
            <a:avLst/>
          </a:prstGeom>
          <a:ln w="31750">
            <a:solidFill>
              <a:srgbClr val="E882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3246120" y="2880360"/>
            <a:ext cx="640080" cy="566927"/>
          </a:xfrm>
          <a:prstGeom prst="line">
            <a:avLst/>
          </a:prstGeom>
          <a:ln w="31750">
            <a:solidFill>
              <a:srgbClr val="E882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 flipV="1">
            <a:off x="1417320" y="2788920"/>
            <a:ext cx="1828800" cy="658367"/>
          </a:xfrm>
          <a:prstGeom prst="line">
            <a:avLst/>
          </a:prstGeom>
          <a:ln w="31750">
            <a:solidFill>
              <a:srgbClr val="E882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271016" y="2642615"/>
            <a:ext cx="292608" cy="292608"/>
          </a:xfrm>
          <a:prstGeom prst="ellipse">
            <a:avLst/>
          </a:prstGeom>
          <a:solidFill>
            <a:srgbClr val="E8827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271016" y="2688335"/>
            <a:ext cx="292608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2322576" y="2414015"/>
            <a:ext cx="292608" cy="292608"/>
          </a:xfrm>
          <a:prstGeom prst="ellipse">
            <a:avLst/>
          </a:prstGeom>
          <a:solidFill>
            <a:srgbClr val="E8827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322576" y="2459735"/>
            <a:ext cx="292608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6" name="Oval 15"/>
          <p:cNvSpPr/>
          <p:nvPr/>
        </p:nvSpPr>
        <p:spPr>
          <a:xfrm>
            <a:off x="3739896" y="2734056"/>
            <a:ext cx="292608" cy="292608"/>
          </a:xfrm>
          <a:prstGeom prst="ellipse">
            <a:avLst/>
          </a:prstGeom>
          <a:solidFill>
            <a:srgbClr val="E8827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739896" y="2779775"/>
            <a:ext cx="292608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8" name="Oval 17"/>
          <p:cNvSpPr/>
          <p:nvPr/>
        </p:nvSpPr>
        <p:spPr>
          <a:xfrm>
            <a:off x="3099815" y="3300983"/>
            <a:ext cx="292608" cy="292608"/>
          </a:xfrm>
          <a:prstGeom prst="ellipse">
            <a:avLst/>
          </a:prstGeom>
          <a:solidFill>
            <a:srgbClr val="E8827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099815" y="3346703"/>
            <a:ext cx="292608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3566160"/>
            <a:ext cx="3886200" cy="22860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ctr"/>
            <a:r>
              <a:rPr sz="1200" b="1" i="0">
                <a:solidFill>
                  <a:srgbClr val="E88270"/>
                </a:solidFill>
                <a:latin typeface="Aptos"/>
              </a:rPr>
              <a:t>Unplanned route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1417320" y="4114800"/>
            <a:ext cx="1051560" cy="228600"/>
          </a:xfrm>
          <a:prstGeom prst="line">
            <a:avLst/>
          </a:prstGeom>
          <a:ln w="31750">
            <a:solidFill>
              <a:srgbClr val="2699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468880" y="4114800"/>
            <a:ext cx="1417320" cy="320040"/>
          </a:xfrm>
          <a:prstGeom prst="line">
            <a:avLst/>
          </a:prstGeom>
          <a:ln w="31750">
            <a:solidFill>
              <a:srgbClr val="2699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3246120" y="4434840"/>
            <a:ext cx="640080" cy="566928"/>
          </a:xfrm>
          <a:prstGeom prst="line">
            <a:avLst/>
          </a:prstGeom>
          <a:ln w="31750">
            <a:solidFill>
              <a:srgbClr val="2699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 flipV="1">
            <a:off x="1417320" y="4343400"/>
            <a:ext cx="1828800" cy="658368"/>
          </a:xfrm>
          <a:prstGeom prst="line">
            <a:avLst/>
          </a:prstGeom>
          <a:ln w="31750">
            <a:solidFill>
              <a:srgbClr val="2699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1271016" y="4197096"/>
            <a:ext cx="292608" cy="292608"/>
          </a:xfrm>
          <a:prstGeom prst="ellipse">
            <a:avLst/>
          </a:prstGeom>
          <a:solidFill>
            <a:srgbClr val="26999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271016" y="4242816"/>
            <a:ext cx="292608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7" name="Oval 26"/>
          <p:cNvSpPr/>
          <p:nvPr/>
        </p:nvSpPr>
        <p:spPr>
          <a:xfrm>
            <a:off x="2322576" y="3968496"/>
            <a:ext cx="292608" cy="292608"/>
          </a:xfrm>
          <a:prstGeom prst="ellipse">
            <a:avLst/>
          </a:prstGeom>
          <a:solidFill>
            <a:srgbClr val="26999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2322576" y="4014215"/>
            <a:ext cx="292608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9" name="Oval 28"/>
          <p:cNvSpPr/>
          <p:nvPr/>
        </p:nvSpPr>
        <p:spPr>
          <a:xfrm>
            <a:off x="3739896" y="4288536"/>
            <a:ext cx="292608" cy="292608"/>
          </a:xfrm>
          <a:prstGeom prst="ellipse">
            <a:avLst/>
          </a:prstGeom>
          <a:solidFill>
            <a:srgbClr val="26999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739896" y="4334255"/>
            <a:ext cx="292608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1" name="Oval 30"/>
          <p:cNvSpPr/>
          <p:nvPr/>
        </p:nvSpPr>
        <p:spPr>
          <a:xfrm>
            <a:off x="3099815" y="4855464"/>
            <a:ext cx="292608" cy="292608"/>
          </a:xfrm>
          <a:prstGeom prst="ellipse">
            <a:avLst/>
          </a:prstGeom>
          <a:solidFill>
            <a:srgbClr val="26999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099815" y="4901183"/>
            <a:ext cx="292608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120640"/>
            <a:ext cx="3886200" cy="22860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ctr"/>
            <a:r>
              <a:rPr sz="1200" b="1" i="0">
                <a:solidFill>
                  <a:srgbClr val="269996"/>
                </a:solidFill>
                <a:latin typeface="Aptos"/>
              </a:rPr>
              <a:t>Optimized route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760720" y="1645920"/>
            <a:ext cx="56692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126480" y="2057400"/>
            <a:ext cx="4892040" cy="3429000"/>
          </a:xfrm>
          <a:prstGeom prst="rect">
            <a:avLst/>
          </a:prstGeom>
          <a:noFill/>
        </p:spPr>
        <p:txBody>
          <a:bodyPr wrap="square" lIns="45720" tIns="27432" rIns="36576" bIns="27432">
            <a:spAutoFit/>
          </a:bodyPr>
          <a:lstStyle/>
          <a:p>
            <a:pPr>
              <a:spcAft>
                <a:spcPts val="1500"/>
              </a:spcAft>
              <a:defRPr sz="1600">
                <a:solidFill>
                  <a:srgbClr val="233442"/>
                </a:solidFill>
                <a:latin typeface="Aptos"/>
              </a:defRPr>
            </a:pPr>
            <a:r>
              <a:t>•  Minimizes total route cost for the chosen model.</a:t>
            </a:r>
          </a:p>
          <a:p>
            <a:pPr>
              <a:spcAft>
                <a:spcPts val="1500"/>
              </a:spcAft>
              <a:defRPr sz="1600">
                <a:solidFill>
                  <a:srgbClr val="233442"/>
                </a:solidFill>
                <a:latin typeface="Aptos"/>
              </a:defRPr>
            </a:pPr>
            <a:r>
              <a:t>•  Can reduce distance, travel time, fuel, or machine movement.</a:t>
            </a:r>
          </a:p>
          <a:p>
            <a:pPr>
              <a:spcAft>
                <a:spcPts val="1500"/>
              </a:spcAft>
              <a:defRPr sz="1600">
                <a:solidFill>
                  <a:srgbClr val="233442"/>
                </a:solidFill>
                <a:latin typeface="Aptos"/>
              </a:defRPr>
            </a:pPr>
            <a:r>
              <a:t>•  Uses vehicles, staff, and equipment more efficiently.</a:t>
            </a:r>
          </a:p>
          <a:p>
            <a:pPr>
              <a:spcAft>
                <a:spcPts val="1500"/>
              </a:spcAft>
              <a:defRPr sz="1600">
                <a:solidFill>
                  <a:srgbClr val="233442"/>
                </a:solidFill>
                <a:latin typeface="Aptos"/>
              </a:defRPr>
            </a:pPr>
            <a:r>
              <a:t>•  Makes planning more systematic and comparable.</a:t>
            </a:r>
          </a:p>
          <a:p>
            <a:pPr>
              <a:spcAft>
                <a:spcPts val="1500"/>
              </a:spcAft>
              <a:defRPr sz="1600">
                <a:solidFill>
                  <a:srgbClr val="233442"/>
                </a:solidFill>
                <a:latin typeface="Aptos"/>
              </a:defRPr>
            </a:pPr>
            <a:r>
              <a:t>•  Provides a clear benchmark for evaluating route choices.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26480" y="5440680"/>
            <a:ext cx="4800600" cy="32004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200" b="1" i="0">
                <a:solidFill>
                  <a:srgbClr val="269996"/>
                </a:solidFill>
                <a:latin typeface="Aptos"/>
              </a:rPr>
              <a:t>Benefits depend on accurate distances and realistic constraints.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A8BFD89-DBFC-DEF5-9FA9-6C28FB576B0D}"/>
              </a:ext>
            </a:extLst>
          </p:cNvPr>
          <p:cNvSpPr txBox="1"/>
          <p:nvPr/>
        </p:nvSpPr>
        <p:spPr>
          <a:xfrm>
            <a:off x="10442448" y="30748"/>
            <a:ext cx="193357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Made with </a:t>
            </a:r>
            <a:r>
              <a:rPr lang="en-US" sz="1600" dirty="0" err="1"/>
              <a:t>ChatGpt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56032"/>
            <a:ext cx="9875520" cy="25603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000" b="1" i="0">
                <a:solidFill>
                  <a:srgbClr val="269996"/>
                </a:solidFill>
                <a:latin typeface="Aptos"/>
              </a:rPr>
              <a:t>09 · WHAT MAKES TSP HARD?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566928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2700" b="1" i="0">
                <a:solidFill>
                  <a:srgbClr val="182F4B"/>
                </a:solidFill>
                <a:latin typeface="Aptos"/>
              </a:rPr>
              <a:t>Challenges and limitations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143000"/>
            <a:ext cx="685800" cy="41148"/>
          </a:xfrm>
          <a:prstGeom prst="rect">
            <a:avLst/>
          </a:prstGeom>
          <a:solidFill>
            <a:srgbClr val="2699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247120" y="6510528"/>
            <a:ext cx="411480" cy="1828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r"/>
            <a:r>
              <a:rPr sz="900" b="1" i="0">
                <a:solidFill>
                  <a:srgbClr val="5E707E"/>
                </a:solidFill>
                <a:latin typeface="Aptos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47548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51560" y="1920240"/>
            <a:ext cx="4114800" cy="36576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800" b="1" i="0">
                <a:solidFill>
                  <a:srgbClr val="182F4B"/>
                </a:solidFill>
                <a:latin typeface="Aptos"/>
              </a:rPr>
              <a:t>Search space grows rapidly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423160"/>
            <a:ext cx="4023360" cy="59436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500" b="0" i="0">
                <a:solidFill>
                  <a:srgbClr val="233442"/>
                </a:solidFill>
                <a:latin typeface="Aptos"/>
              </a:rPr>
              <a:t>With a fixed starting city, there are (n − 1)! possible directed tours.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246120"/>
            <a:ext cx="1143000" cy="22860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100" b="0" i="0">
                <a:solidFill>
                  <a:srgbClr val="5E707E"/>
                </a:solidFill>
                <a:latin typeface="Aptos"/>
              </a:rPr>
              <a:t>5 cities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86000" y="3264408"/>
            <a:ext cx="365760" cy="164592"/>
          </a:xfrm>
          <a:prstGeom prst="roundRect">
            <a:avLst/>
          </a:prstGeom>
          <a:solidFill>
            <a:srgbClr val="2699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788920" y="3236976"/>
            <a:ext cx="1463040" cy="22860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000" b="1" i="0">
                <a:solidFill>
                  <a:srgbClr val="182F4B"/>
                </a:solidFill>
                <a:latin typeface="Aptos"/>
              </a:rPr>
              <a:t>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685031"/>
            <a:ext cx="1143000" cy="22860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100" b="0" i="0">
                <a:solidFill>
                  <a:srgbClr val="5E707E"/>
                </a:solidFill>
                <a:latin typeface="Aptos"/>
              </a:rPr>
              <a:t>8 cities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86000" y="3703319"/>
            <a:ext cx="640080" cy="164592"/>
          </a:xfrm>
          <a:prstGeom prst="roundRect">
            <a:avLst/>
          </a:prstGeom>
          <a:solidFill>
            <a:srgbClr val="2699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063239" y="3675887"/>
            <a:ext cx="1463040" cy="22860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000" b="1" i="0">
                <a:solidFill>
                  <a:srgbClr val="182F4B"/>
                </a:solidFill>
                <a:latin typeface="Aptos"/>
              </a:rPr>
              <a:t>120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123944"/>
            <a:ext cx="1143000" cy="22860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100" b="0" i="0">
                <a:solidFill>
                  <a:srgbClr val="5E707E"/>
                </a:solidFill>
                <a:latin typeface="Aptos"/>
              </a:rPr>
              <a:t>10 cities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86000" y="4142231"/>
            <a:ext cx="1417320" cy="164592"/>
          </a:xfrm>
          <a:prstGeom prst="roundRect">
            <a:avLst/>
          </a:prstGeom>
          <a:solidFill>
            <a:srgbClr val="E882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840480" y="4114800"/>
            <a:ext cx="1463040" cy="22860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000" b="1" i="0">
                <a:solidFill>
                  <a:srgbClr val="182F4B"/>
                </a:solidFill>
                <a:latin typeface="Aptos"/>
              </a:rPr>
              <a:t>362,880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562856"/>
            <a:ext cx="1143000" cy="22860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100" b="0" i="0">
                <a:solidFill>
                  <a:srgbClr val="5E707E"/>
                </a:solidFill>
                <a:latin typeface="Aptos"/>
              </a:rPr>
              <a:t>12 cities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86000" y="4581144"/>
            <a:ext cx="2331720" cy="164592"/>
          </a:xfrm>
          <a:prstGeom prst="roundRect">
            <a:avLst/>
          </a:prstGeom>
          <a:solidFill>
            <a:srgbClr val="E882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754879" y="4553712"/>
            <a:ext cx="1463040" cy="22860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000" b="1" i="0">
                <a:solidFill>
                  <a:srgbClr val="182F4B"/>
                </a:solidFill>
                <a:latin typeface="Aptos"/>
              </a:rPr>
              <a:t>39,916,800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97880" y="1645920"/>
            <a:ext cx="5532120" cy="4389120"/>
          </a:xfrm>
          <a:prstGeom prst="roundRect">
            <a:avLst/>
          </a:prstGeom>
          <a:solidFill>
            <a:srgbClr val="EBF5F8"/>
          </a:solidFill>
          <a:ln w="12700">
            <a:solidFill>
              <a:srgbClr val="EBF5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263640" y="1920240"/>
            <a:ext cx="4800600" cy="36576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800" b="1" i="0">
                <a:solidFill>
                  <a:srgbClr val="182F4B"/>
                </a:solidFill>
                <a:latin typeface="Aptos"/>
              </a:rPr>
              <a:t>Practical challenges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423160"/>
            <a:ext cx="4709160" cy="3108960"/>
          </a:xfrm>
          <a:prstGeom prst="rect">
            <a:avLst/>
          </a:prstGeom>
          <a:noFill/>
        </p:spPr>
        <p:txBody>
          <a:bodyPr wrap="square" lIns="45720" tIns="27432" rIns="36576" bIns="27432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233442"/>
                </a:solidFill>
                <a:latin typeface="Aptos"/>
              </a:defRPr>
            </a:pPr>
            <a:r>
              <a:t>•  Exact algorithms become expensive as city count grows.</a:t>
            </a:r>
          </a:p>
          <a:p>
            <a:pPr>
              <a:spcAft>
                <a:spcPts val="1200"/>
              </a:spcAft>
              <a:defRPr sz="1500">
                <a:solidFill>
                  <a:srgbClr val="233442"/>
                </a:solidFill>
                <a:latin typeface="Aptos"/>
              </a:defRPr>
            </a:pPr>
            <a:r>
              <a:t>•  Large instances may need heuristics or approximations.</a:t>
            </a:r>
          </a:p>
          <a:p>
            <a:pPr>
              <a:spcAft>
                <a:spcPts val="1200"/>
              </a:spcAft>
              <a:defRPr sz="1500">
                <a:solidFill>
                  <a:srgbClr val="233442"/>
                </a:solidFill>
                <a:latin typeface="Aptos"/>
              </a:defRPr>
            </a:pPr>
            <a:r>
              <a:t>•  Traffic, weather, and closures can change travel costs.</a:t>
            </a:r>
          </a:p>
          <a:p>
            <a:pPr>
              <a:spcAft>
                <a:spcPts val="1200"/>
              </a:spcAft>
              <a:defRPr sz="1500">
                <a:solidFill>
                  <a:srgbClr val="233442"/>
                </a:solidFill>
                <a:latin typeface="Aptos"/>
              </a:defRPr>
            </a:pPr>
            <a:r>
              <a:t>•  Real tasks add time windows, vehicle limits, and priorities.</a:t>
            </a:r>
          </a:p>
          <a:p>
            <a:pPr>
              <a:spcAft>
                <a:spcPts val="1200"/>
              </a:spcAft>
              <a:defRPr sz="1500">
                <a:solidFill>
                  <a:srgbClr val="233442"/>
                </a:solidFill>
                <a:latin typeface="Aptos"/>
              </a:defRPr>
            </a:pPr>
            <a:r>
              <a:t>•  A mathematically shortest route may not be the most practical.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5486400"/>
            <a:ext cx="4663440" cy="27432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200" b="1" i="0">
                <a:solidFill>
                  <a:srgbClr val="269996"/>
                </a:solidFill>
                <a:latin typeface="Aptos"/>
              </a:rPr>
              <a:t>TSP is NP-hard: no known polynomial-time exact algorithm solves every instance.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5E64598-FACC-DE7E-EDA5-EE3FC862DBC2}"/>
              </a:ext>
            </a:extLst>
          </p:cNvPr>
          <p:cNvSpPr txBox="1"/>
          <p:nvPr/>
        </p:nvSpPr>
        <p:spPr>
          <a:xfrm>
            <a:off x="10372724" y="18175"/>
            <a:ext cx="19526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Made with </a:t>
            </a:r>
            <a:r>
              <a:rPr lang="en-US" sz="1600" dirty="0" err="1"/>
              <a:t>ChatGpt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56032"/>
            <a:ext cx="9875520" cy="25603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000" b="1" i="0">
                <a:solidFill>
                  <a:srgbClr val="269996"/>
                </a:solidFill>
                <a:latin typeface="Aptos"/>
              </a:rPr>
              <a:t>10 · PRACTICAL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566928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2700" b="1" i="0">
                <a:solidFill>
                  <a:srgbClr val="182F4B"/>
                </a:solidFill>
                <a:latin typeface="Aptos"/>
              </a:rPr>
              <a:t>Choosing an approach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143000"/>
            <a:ext cx="685800" cy="41148"/>
          </a:xfrm>
          <a:prstGeom prst="rect">
            <a:avLst/>
          </a:prstGeom>
          <a:solidFill>
            <a:srgbClr val="2699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247120" y="6510528"/>
            <a:ext cx="411480" cy="1828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r"/>
            <a:r>
              <a:rPr sz="900" b="1" i="0">
                <a:solidFill>
                  <a:srgbClr val="5E707E"/>
                </a:solidFill>
                <a:latin typeface="Aptos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37360"/>
            <a:ext cx="1056132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97280" y="1901952"/>
            <a:ext cx="1508760" cy="310896"/>
          </a:xfrm>
          <a:prstGeom prst="roundRect">
            <a:avLst/>
          </a:prstGeom>
          <a:solidFill>
            <a:srgbClr val="EBF5F8"/>
          </a:solidFill>
          <a:ln w="12700">
            <a:solidFill>
              <a:srgbClr val="EBF5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24712" y="1924812"/>
            <a:ext cx="1453895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 i="0">
                <a:solidFill>
                  <a:srgbClr val="182F4B"/>
                </a:solidFill>
                <a:latin typeface="Aptos"/>
              </a:rPr>
              <a:t>SMALL INSTANCE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1901952"/>
            <a:ext cx="3017520" cy="329184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600" b="1" i="0">
                <a:solidFill>
                  <a:srgbClr val="3670A6"/>
                </a:solidFill>
                <a:latin typeface="Aptos"/>
              </a:rPr>
              <a:t>Brute force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80" y="1901952"/>
            <a:ext cx="4983480" cy="566928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300" b="0" i="0">
                <a:solidFill>
                  <a:srgbClr val="5E707E"/>
                </a:solidFill>
                <a:latin typeface="Aptos"/>
              </a:rPr>
              <a:t>Easy to understand; feasible only for very few cities.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35808"/>
            <a:ext cx="1056132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1097280" y="3200400"/>
            <a:ext cx="1508760" cy="310896"/>
          </a:xfrm>
          <a:prstGeom prst="roundRect">
            <a:avLst/>
          </a:prstGeom>
          <a:solidFill>
            <a:srgbClr val="EBF5F8"/>
          </a:solidFill>
          <a:ln w="12700">
            <a:solidFill>
              <a:srgbClr val="EBF5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24712" y="3223260"/>
            <a:ext cx="1453895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 i="0">
                <a:solidFill>
                  <a:srgbClr val="182F4B"/>
                </a:solidFill>
                <a:latin typeface="Aptos"/>
              </a:rPr>
              <a:t>MODERATE INSTANCE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3200400"/>
            <a:ext cx="3017520" cy="329184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600" b="1" i="0">
                <a:solidFill>
                  <a:srgbClr val="269996"/>
                </a:solidFill>
                <a:latin typeface="Aptos"/>
              </a:rPr>
              <a:t>Held–Karp / Branch &amp; Bound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97880" y="3200400"/>
            <a:ext cx="4983480" cy="566928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300" b="0" i="0">
                <a:solidFill>
                  <a:srgbClr val="5E707E"/>
                </a:solidFill>
                <a:latin typeface="Aptos"/>
              </a:rPr>
              <a:t>Exact answer, but memory or search can still grow quickly.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334256"/>
            <a:ext cx="1056132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097280" y="4498848"/>
            <a:ext cx="1508760" cy="310896"/>
          </a:xfrm>
          <a:prstGeom prst="roundRect">
            <a:avLst/>
          </a:prstGeom>
          <a:solidFill>
            <a:srgbClr val="EBF5F8"/>
          </a:solidFill>
          <a:ln w="12700">
            <a:solidFill>
              <a:srgbClr val="EBF5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124712" y="4521708"/>
            <a:ext cx="1453895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 i="0">
                <a:solidFill>
                  <a:srgbClr val="182F4B"/>
                </a:solidFill>
                <a:latin typeface="Aptos"/>
              </a:rPr>
              <a:t>LARGE INSTANCE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80360" y="4498848"/>
            <a:ext cx="3017520" cy="329184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600" b="1" i="0">
                <a:solidFill>
                  <a:srgbClr val="E88270"/>
                </a:solidFill>
                <a:latin typeface="Aptos"/>
              </a:rPr>
              <a:t>Approximation / heuristics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97880" y="4498848"/>
            <a:ext cx="4983480" cy="566928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300" b="0" i="0">
                <a:solidFill>
                  <a:srgbClr val="5E707E"/>
                </a:solidFill>
                <a:latin typeface="Aptos"/>
              </a:rPr>
              <a:t>Usually faster; may trade guaranteed optimality for speed.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5715000"/>
            <a:ext cx="10332720" cy="502920"/>
          </a:xfrm>
          <a:prstGeom prst="roundRect">
            <a:avLst/>
          </a:prstGeom>
          <a:solidFill>
            <a:srgbClr val="D5F2EB"/>
          </a:solidFill>
          <a:ln w="12700">
            <a:solidFill>
              <a:srgbClr val="D5F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97280" y="5815584"/>
            <a:ext cx="9966960" cy="27432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ctr"/>
            <a:r>
              <a:rPr sz="1300" b="1" i="0">
                <a:solidFill>
                  <a:srgbClr val="182F4B"/>
                </a:solidFill>
                <a:latin typeface="Aptos"/>
              </a:rPr>
              <a:t>Decision rule: choose based on instance size, time limit, and whether a provably optimal tour is required.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344DB65-C86C-23A3-4C8B-6331ABA4F1EE}"/>
              </a:ext>
            </a:extLst>
          </p:cNvPr>
          <p:cNvSpPr txBox="1"/>
          <p:nvPr/>
        </p:nvSpPr>
        <p:spPr>
          <a:xfrm>
            <a:off x="10398442" y="38636"/>
            <a:ext cx="197167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Made with </a:t>
            </a:r>
            <a:r>
              <a:rPr lang="en-US" sz="1600" dirty="0" err="1"/>
              <a:t>ChatGpt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B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56032"/>
            <a:ext cx="9875520" cy="25603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000" b="1" i="0">
                <a:solidFill>
                  <a:srgbClr val="269996"/>
                </a:solidFill>
                <a:latin typeface="Aptos"/>
              </a:rPr>
              <a:t>11 ·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566928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2700" b="1" i="0">
                <a:solidFill>
                  <a:srgbClr val="182F4B"/>
                </a:solidFill>
                <a:latin typeface="Aptos"/>
              </a:rPr>
              <a:t>Conclusion &amp; references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143000"/>
            <a:ext cx="685800" cy="41148"/>
          </a:xfrm>
          <a:prstGeom prst="rect">
            <a:avLst/>
          </a:prstGeom>
          <a:solidFill>
            <a:srgbClr val="2699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247120" y="6510528"/>
            <a:ext cx="411480" cy="1828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r"/>
            <a:r>
              <a:rPr sz="900" b="1" i="0">
                <a:solidFill>
                  <a:srgbClr val="5E707E"/>
                </a:solidFill>
                <a:latin typeface="Aptos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508760"/>
            <a:ext cx="548640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1810512"/>
            <a:ext cx="4800600" cy="36576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900" b="1" i="0">
                <a:solidFill>
                  <a:srgbClr val="182F4B"/>
                </a:solidFill>
                <a:latin typeface="Aptos"/>
              </a:rPr>
              <a:t>Remember these three points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31720"/>
            <a:ext cx="4754880" cy="2468880"/>
          </a:xfrm>
          <a:prstGeom prst="rect">
            <a:avLst/>
          </a:prstGeom>
          <a:noFill/>
        </p:spPr>
        <p:txBody>
          <a:bodyPr wrap="square" lIns="45720" tIns="27432" rIns="36576" bIns="27432">
            <a:spAutoFit/>
          </a:bodyPr>
          <a:lstStyle/>
          <a:p>
            <a:pPr>
              <a:spcAft>
                <a:spcPts val="1700"/>
              </a:spcAft>
              <a:defRPr sz="1600">
                <a:solidFill>
                  <a:srgbClr val="233442"/>
                </a:solidFill>
                <a:latin typeface="Aptos"/>
              </a:defRPr>
            </a:pPr>
            <a:r>
              <a:t>•  TSP asks for the minimum-cost cycle through every city exactly once.</a:t>
            </a:r>
          </a:p>
          <a:p>
            <a:pPr>
              <a:spcAft>
                <a:spcPts val="1700"/>
              </a:spcAft>
              <a:defRPr sz="1600">
                <a:solidFill>
                  <a:srgbClr val="233442"/>
                </a:solidFill>
                <a:latin typeface="Aptos"/>
              </a:defRPr>
            </a:pPr>
            <a:r>
              <a:t>•  Exact methods guarantee the best tour but can be computationally expensive.</a:t>
            </a:r>
          </a:p>
          <a:p>
            <a:pPr>
              <a:spcAft>
                <a:spcPts val="1700"/>
              </a:spcAft>
              <a:defRPr sz="1600">
                <a:solidFill>
                  <a:srgbClr val="233442"/>
                </a:solidFill>
                <a:latin typeface="Aptos"/>
              </a:defRPr>
            </a:pPr>
            <a:r>
              <a:t>•  Approximation and heuristic methods help with larger practical problems.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5074920"/>
            <a:ext cx="4709160" cy="594360"/>
          </a:xfrm>
          <a:prstGeom prst="roundRect">
            <a:avLst/>
          </a:prstGeom>
          <a:solidFill>
            <a:srgbClr val="D5F2EB"/>
          </a:solidFill>
          <a:ln w="12700">
            <a:solidFill>
              <a:srgbClr val="D5F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43000" y="5230368"/>
            <a:ext cx="4434840" cy="27432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ctr"/>
            <a:r>
              <a:rPr sz="1400" b="1" i="0">
                <a:solidFill>
                  <a:srgbClr val="269996"/>
                </a:solidFill>
                <a:latin typeface="Aptos"/>
              </a:rPr>
              <a:t>The best method depends on the problem size.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1508760"/>
            <a:ext cx="498348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12280" y="1810512"/>
            <a:ext cx="4297680" cy="36576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800" b="1" i="0">
                <a:solidFill>
                  <a:srgbClr val="182F4B"/>
                </a:solidFill>
                <a:latin typeface="Aptos"/>
              </a:rPr>
              <a:t>References for further reading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2280" y="2331720"/>
            <a:ext cx="4343400" cy="3108960"/>
          </a:xfrm>
          <a:prstGeom prst="rect">
            <a:avLst/>
          </a:prstGeom>
          <a:noFill/>
        </p:spPr>
        <p:txBody>
          <a:bodyPr wrap="square" lIns="45720" tIns="27432" rIns="36576" bIns="27432">
            <a:spAutoFit/>
          </a:bodyPr>
          <a:lstStyle/>
          <a:p>
            <a:pPr>
              <a:spcAft>
                <a:spcPts val="1200"/>
              </a:spcAft>
              <a:defRPr sz="1200">
                <a:solidFill>
                  <a:srgbClr val="233442"/>
                </a:solidFill>
                <a:latin typeface="Aptos"/>
              </a:defRPr>
            </a:pPr>
            <a:r>
              <a:t>•  Cormen et al., Introduction to Algorithms, 4th ed. (MIT Press).</a:t>
            </a:r>
          </a:p>
          <a:p>
            <a:pPr>
              <a:spcAft>
                <a:spcPts val="1200"/>
              </a:spcAft>
              <a:defRPr sz="1200">
                <a:solidFill>
                  <a:srgbClr val="233442"/>
                </a:solidFill>
                <a:latin typeface="Aptos"/>
              </a:defRPr>
            </a:pPr>
            <a:r>
              <a:t>•  Karp, R. M. (1972), “Reducibility Among Combinatorial Problems.”</a:t>
            </a:r>
          </a:p>
          <a:p>
            <a:pPr>
              <a:spcAft>
                <a:spcPts val="1200"/>
              </a:spcAft>
              <a:defRPr sz="1200">
                <a:solidFill>
                  <a:srgbClr val="233442"/>
                </a:solidFill>
                <a:latin typeface="Aptos"/>
              </a:defRPr>
            </a:pPr>
            <a:r>
              <a:t>•  Held, M. &amp; Karp, R. M. (1962), “A Dynamic Programming Approach to Sequencing Problems.”</a:t>
            </a:r>
          </a:p>
          <a:p>
            <a:pPr>
              <a:spcAft>
                <a:spcPts val="1200"/>
              </a:spcAft>
              <a:defRPr sz="1200">
                <a:solidFill>
                  <a:srgbClr val="233442"/>
                </a:solidFill>
                <a:latin typeface="Aptos"/>
              </a:defRPr>
            </a:pPr>
            <a:r>
              <a:t>•  Vazirani, V. V., Approximation Algorithms (Springer, 2001).</a:t>
            </a:r>
          </a:p>
          <a:p>
            <a:pPr>
              <a:spcAft>
                <a:spcPts val="1200"/>
              </a:spcAft>
              <a:defRPr sz="1200">
                <a:solidFill>
                  <a:srgbClr val="233442"/>
                </a:solidFill>
                <a:latin typeface="Aptos"/>
              </a:defRPr>
            </a:pPr>
            <a:r>
              <a:t>•  Christofides, N. (1976), Worst-case analysis of a new heuristic for the travelling salesman problem.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2280" y="5596128"/>
            <a:ext cx="4343400" cy="22860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r"/>
            <a:r>
              <a:rPr sz="1400" b="1" i="0">
                <a:solidFill>
                  <a:srgbClr val="269996"/>
                </a:solidFill>
                <a:latin typeface="Aptos"/>
              </a:rPr>
              <a:t>Thank you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DA46842-FDA7-2F70-C9C7-81D8C108BCAF}"/>
              </a:ext>
            </a:extLst>
          </p:cNvPr>
          <p:cNvSpPr txBox="1"/>
          <p:nvPr/>
        </p:nvSpPr>
        <p:spPr>
          <a:xfrm>
            <a:off x="10363199" y="47892"/>
            <a:ext cx="197167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Made with </a:t>
            </a:r>
            <a:r>
              <a:rPr lang="en-US" sz="1600" dirty="0" err="1"/>
              <a:t>ChatGpt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1249</Words>
  <Application>Microsoft Office PowerPoint</Application>
  <PresentationFormat>Widescreen</PresentationFormat>
  <Paragraphs>223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aditya marghade</cp:lastModifiedBy>
  <cp:revision>1</cp:revision>
  <dcterms:created xsi:type="dcterms:W3CDTF">2013-01-27T09:14:16Z</dcterms:created>
  <dcterms:modified xsi:type="dcterms:W3CDTF">2026-10-19T12:47:23Z</dcterms:modified>
  <cp:category/>
</cp:coreProperties>
</file>